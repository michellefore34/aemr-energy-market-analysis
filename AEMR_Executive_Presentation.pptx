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65860"/>
  </p:normalViewPr>
  <p:slideViewPr>
    <p:cSldViewPr snapToGrid="0">
      <p:cViewPr varScale="1">
        <p:scale>
          <a:sx n="83" d="100"/>
          <a:sy n="83" d="100"/>
        </p:scale>
        <p:origin x="1720" y="192"/>
      </p:cViewPr>
      <p:guideLst/>
    </p:cSldViewPr>
  </p:slideViewPr>
  <p:notesTextViewPr>
    <p:cViewPr>
      <p:scale>
        <a:sx n="1" d="1"/>
        <a:sy n="1" d="1"/>
      </p:scale>
      <p:origin x="0" y="-1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sz="1600" dirty="0"/>
              <a:t>Thanks for having me. I’m going to walk you through what the outage data says about reliability in this market, where the energy loss is concentrated, and what I’d do about it. </a:t>
            </a:r>
          </a:p>
          <a:p>
            <a:pPr rtl="0"/>
            <a:endParaRPr lang="en-US" sz="1600" dirty="0"/>
          </a:p>
          <a:p>
            <a:pPr rtl="0"/>
            <a:r>
              <a:rPr lang="en-US" sz="1600" dirty="0"/>
              <a:t>But before the numbers, let me set up the problem.</a:t>
            </a:r>
          </a:p>
          <a:p>
            <a:pPr rtl="0"/>
            <a:endParaRPr lang="en-US" sz="1600" dirty="0"/>
          </a:p>
          <a:p>
            <a:pPr rtl="0"/>
            <a:r>
              <a:rPr lang="en-US" sz="1600" dirty="0"/>
              <a:t>The American Energy Market Regulator, or AEMR, is responsible for keeping the country’s domestic energy network reliable, with as few disruptions as possible. In the industry, a disruption is called an outage, and it happens when an energy provider takes a generating unit offline.</a:t>
            </a:r>
          </a:p>
          <a:p>
            <a:pPr rtl="0"/>
            <a:endParaRPr lang="en-US" sz="1600" dirty="0"/>
          </a:p>
          <a:p>
            <a:pPr rtl="0"/>
            <a:r>
              <a:rPr lang="en-US" sz="1600" dirty="0"/>
              <a:t>Not all outages are equal. There are four types - Consequential outages come from something outside the provider’s control, like a downed transmission line. Opportunistic outages are quick maintenance done within 48 hours. Scheduled outages are planned in advance and run longer. And forced outages are the unplanned ones, where a provider promised to supply energy and suddenly can’t.</a:t>
            </a:r>
          </a:p>
          <a:p>
            <a:pPr rtl="0"/>
            <a:endParaRPr lang="en-US" sz="1600" dirty="0"/>
          </a:p>
          <a:p>
            <a:pPr rtl="0"/>
            <a:r>
              <a:rPr lang="en-US" sz="1600" dirty="0"/>
              <a:t>Over 2016 and 2017, management noticed a high volume of outages being submitted and asked two questions. First, what does the data say about energy stability and market outages? Second, where are energy losses concentrated, and what does that say about reliability?</a:t>
            </a:r>
          </a:p>
          <a:p>
            <a:pPr rtl="0"/>
            <a:endParaRPr lang="en-US" sz="1600" dirty="0"/>
          </a:p>
          <a:p>
            <a:pPr rtl="0"/>
            <a:r>
              <a:rPr lang="en-US" sz="1600" dirty="0"/>
              <a:t>I answered those using AEMR’s outage data for 2016 and 2017, approved outages only, since cancelled or rejected ones don’t affect the grid. I’ll walk through both questions, then close with four recommendations. The short version is that forced outages are growing, and most of the energy loss comes from three providers, so the fix can be targeted.</a:t>
            </a:r>
          </a:p>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 name="Google Shape;2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If you only remember one slide, make it this one. Three numbers. Forced outages hit 1,622 in 2017, up 28%. They’re now 74.7% of all approved outages, up from 65.5%. And about 60% of the energy lost to forced outages comes from just three providers: GW, AURICON, and MELK.</a:t>
            </a:r>
          </a:p>
          <a:p>
            <a:pPr rtl="0"/>
            <a:endParaRPr lang="en-US" dirty="0"/>
          </a:p>
          <a:p>
            <a:pPr rtl="0"/>
            <a:r>
              <a:rPr lang="en-US" dirty="0"/>
              <a:t>Think about how a grid operator runs a day. Supply has to match demand every minute. A scheduled outage is a plant coming offline for maintenance in a mild month, with other plants lined up to cover it. Nobody notices. A forced outage is a unit tripping offline on a hot afternoon when everyone’s running air conditioning. No cover is lined up, so the operator scrambles to bring other plants online, and if enough units trip at once, you get rolling blackouts.</a:t>
            </a:r>
          </a:p>
          <a:p>
            <a:pPr rtl="0"/>
            <a:r>
              <a:rPr lang="en-US" dirty="0"/>
              <a:t>Forced outages are those trips. In 2017 they grew 28%, while every other outage type combined fell 18%.</a:t>
            </a:r>
          </a:p>
          <a:p>
            <a:pPr rtl="0"/>
            <a:endParaRPr lang="en-US" dirty="0"/>
          </a:p>
          <a:p>
            <a:pPr rtl="0"/>
            <a:r>
              <a:rPr lang="en-US" dirty="0"/>
              <a:t>Which providers matters most. Each of those three providers’ (W, AURICON, MELK) traces back to one specific facility failure. That’s what turns this from a market trend into an operational problem we can act on.</a:t>
            </a:r>
          </a:p>
          <a:p>
            <a:pPr rtl="0"/>
            <a:endParaRPr lang="en-US" b="1" dirty="0"/>
          </a:p>
          <a:p>
            <a:pPr rtl="0"/>
            <a:r>
              <a:rPr lang="en-US" dirty="0"/>
              <a:t>Let me show you how I got there, starting with the market-wide picture.</a:t>
            </a:r>
            <a:endParaRPr dirty="0"/>
          </a:p>
        </p:txBody>
      </p:sp>
      <p:sp>
        <p:nvSpPr>
          <p:cNvPr id="25" name="Google Shape;2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Total approved outages rose 12.4%, from 1,931 to 2,171. That sounds like a modest increase. But look underneath it. Forced outages rose 28.3%, while every other type combined fell 17.7%.</a:t>
            </a:r>
          </a:p>
          <a:p>
            <a:pPr rtl="0"/>
            <a:endParaRPr lang="en-US" dirty="0"/>
          </a:p>
          <a:p>
            <a:pPr rtl="0"/>
            <a:r>
              <a:rPr lang="en-US" dirty="0"/>
              <a:t>So the headline number hides the real story. The market isn’t just having more outages. It’s swapping the manageable kind for the dangerous kind.</a:t>
            </a:r>
          </a:p>
          <a:p>
            <a:pPr marL="0" lvl="0" indent="0" algn="l" rtl="0">
              <a:spcBef>
                <a:spcPts val="0"/>
              </a:spcBef>
              <a:spcAft>
                <a:spcPts val="0"/>
              </a:spcAft>
              <a:buNone/>
            </a:pPr>
            <a:endParaRPr dirty="0"/>
          </a:p>
        </p:txBody>
      </p:sp>
      <p:sp>
        <p:nvSpPr>
          <p:cNvPr id="45" name="Google Shape;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 name="Google Shape;5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Here’s the same trend as a share of the market. Forced outages went from 65.5% to 74.7% of all outages in one year.</a:t>
            </a:r>
          </a:p>
          <a:p>
            <a:pPr rtl="0"/>
            <a:endParaRPr lang="en-US" dirty="0"/>
          </a:p>
          <a:p>
            <a:pPr rtl="0"/>
            <a:r>
              <a:rPr lang="en-US" dirty="0"/>
              <a:t>Why do I focus on forced outages only? Because they’re the only type AEMR penalizes. They hit the grid with no warning and no planning window. Planned and opportunistic maintenance doesn’t threaten grid security, so I refined the risk scoring to weight forced-outage frequency and duration only.</a:t>
            </a:r>
          </a:p>
          <a:p>
            <a:pPr marL="0" lvl="0" indent="0" algn="l" rtl="0">
              <a:spcBef>
                <a:spcPts val="0"/>
              </a:spcBef>
              <a:spcAft>
                <a:spcPts val="0"/>
              </a:spcAft>
              <a:buNone/>
            </a:pPr>
            <a:endParaRPr dirty="0"/>
          </a:p>
        </p:txBody>
      </p:sp>
      <p:sp>
        <p:nvSpPr>
          <p:cNvPr id="59" name="Google Shape;5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Now, who is driving this? There are two different problems here, and they have different culprits.</a:t>
            </a:r>
          </a:p>
          <a:p>
            <a:pPr rtl="0"/>
            <a:endParaRPr lang="en-US" dirty="0"/>
          </a:p>
          <a:p>
            <a:pPr rtl="0"/>
            <a:r>
              <a:rPr lang="en-US" dirty="0"/>
              <a:t>On the left, most forced events: AURICON and GW lead by a wide margin. On the right, longest average forced outage by facility: EUCT, WGUTD, and MELK.</a:t>
            </a:r>
          </a:p>
          <a:p>
            <a:pPr rtl="0"/>
            <a:endParaRPr lang="en-US" dirty="0"/>
          </a:p>
          <a:p>
            <a:pPr rtl="0"/>
            <a:r>
              <a:rPr lang="en-US" dirty="0"/>
              <a:t>Picture two generating units, both with a forced outage problem. The first trips offline almost every day. Each trip is a quick reset, and it’s back on the grid within a couple of hours. The second trips only a few times a year, but each time it needs a major repair and stays offline for weeks.</a:t>
            </a:r>
          </a:p>
          <a:p>
            <a:pPr rtl="0"/>
            <a:endParaRPr lang="en-US" dirty="0"/>
          </a:p>
          <a:p>
            <a:pPr rtl="0"/>
            <a:r>
              <a:rPr lang="en-US" dirty="0"/>
              <a:t>An operator would manage those very differently. The first unit has a reliability problem. It’s the kind of thing you fix with protection-system settings, maintenance practices and compliance follow-up, and the question is why it keeps tripping. The second has a recovery problem. The question is why repairs take so long, which means the accruing the parts, the crews and engineering and the work to fix it. The grid also experiences them differently. The frequent tripper forces the operator to reshuffle supply again and again. The long-outage unit takes capacity out of the market for weeks, right when the margin is thin.</a:t>
            </a:r>
          </a:p>
          <a:p>
            <a:pPr rtl="0"/>
            <a:endParaRPr lang="en-US" dirty="0"/>
          </a:p>
          <a:p>
            <a:pPr rtl="0"/>
            <a:r>
              <a:rPr lang="en-US" dirty="0"/>
              <a:t>In our data, AURICON and </a:t>
            </a:r>
            <a:r>
              <a:rPr lang="en-US"/>
              <a:t>GW are </a:t>
            </a:r>
            <a:r>
              <a:rPr lang="en-US" dirty="0"/>
              <a:t>the first unit and EUCT, WGUTD and MELK are the second. Both are forced outages, but one score for both would hide the difference, and the fix is different for each.</a:t>
            </a:r>
          </a:p>
          <a:p>
            <a:pPr rtl="0"/>
            <a:endParaRPr lang="en-US" dirty="0"/>
          </a:p>
          <a:p>
            <a:pPr rtl="0"/>
            <a:r>
              <a:rPr lang="en-US" dirty="0"/>
              <a:t>So AURICON and GW need a frequency-focused compliance review. EUCT, WGUTD, and MELK need a duration-focused root-cause review.</a:t>
            </a:r>
          </a:p>
          <a:p>
            <a:pPr rtl="0"/>
            <a:endParaRPr lang="en-US" dirty="0"/>
          </a:p>
          <a:p>
            <a:pPr rtl="0"/>
            <a:r>
              <a:rPr lang="en-US" dirty="0"/>
              <a:t>Frequency and duration tell us who’s unreliable. Energy loss tells us who’s costing the market the most.</a:t>
            </a:r>
          </a:p>
          <a:p>
            <a:pPr marL="0" lvl="0" indent="0" algn="l" rtl="0">
              <a:spcBef>
                <a:spcPts val="0"/>
              </a:spcBef>
              <a:spcAft>
                <a:spcPts val="0"/>
              </a:spcAft>
              <a:buNone/>
            </a:pPr>
            <a:endParaRPr dirty="0"/>
          </a:p>
        </p:txBody>
      </p:sp>
      <p:sp>
        <p:nvSpPr>
          <p:cNvPr id="73" name="Google Shape;7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GW accounts for 23% of all forced-outage energy lost across 2016 and 2017. AURICON accounts for 21.2%, and MELK for 15.8%. Together, three providers out of roughly 20 hold 60% of the loss.</a:t>
            </a:r>
          </a:p>
          <a:p>
            <a:pPr rtl="0"/>
            <a:endParaRPr lang="en-US" dirty="0"/>
          </a:p>
          <a:p>
            <a:pPr rtl="0"/>
            <a:r>
              <a:rPr lang="en-US" dirty="0"/>
              <a:t>If you’ve heard of the 80/20 rule, this is that idea in action. A small share of providers drives most of the problem. That’s how we should approach reliability. They don’t need to upgrade every circuit on the network. We rank the worst performers by the outage megawatts they cost, and put crews and capital into the top few first.</a:t>
            </a:r>
          </a:p>
          <a:p>
            <a:pPr rtl="0"/>
            <a:endParaRPr lang="en-US" dirty="0"/>
          </a:p>
          <a:p>
            <a:pPr rtl="0"/>
            <a:r>
              <a:rPr lang="en-US" dirty="0"/>
              <a:t>So, let’s do that here and the list is short. Three providers account for 60% of the loss, and the other 17 share the remaining 40%. So the right response isn’t a market-wide crackdown. It’s a worst-performers list, and we already know who is at the top of it</a:t>
            </a:r>
          </a:p>
          <a:p>
            <a:pPr rtl="0"/>
            <a:endParaRPr lang="en-US" dirty="0"/>
          </a:p>
          <a:p>
            <a:pPr rtl="0"/>
            <a:r>
              <a:rPr lang="en-US" dirty="0"/>
              <a:t>So, concentration tells us where to look. The next slide shows what we find when we look.</a:t>
            </a:r>
          </a:p>
        </p:txBody>
      </p:sp>
      <p:sp>
        <p:nvSpPr>
          <p:cNvPr id="97" name="Google Shape;9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The best part of this analysis is that the losses aren’t vague. Each one traces to a specific facility and cause.</a:t>
            </a:r>
          </a:p>
          <a:p>
            <a:pPr rtl="0"/>
            <a:endParaRPr lang="en-US" dirty="0"/>
          </a:p>
          <a:p>
            <a:pPr rtl="0"/>
            <a:r>
              <a:rPr lang="en-US" dirty="0"/>
              <a:t>GW’s BW1_GREENWATERS_G2: 28,687.5 MW lost to an operational issue that caused a real-time forced outage. That’s the single largest cause of loss in the entire dataset, and it’s bigger than AURICON’s whole forced-outage total.</a:t>
            </a:r>
          </a:p>
          <a:p>
            <a:pPr rtl="0"/>
            <a:endParaRPr lang="en-US" dirty="0"/>
          </a:p>
          <a:p>
            <a:pPr rtl="0"/>
            <a:r>
              <a:rPr lang="en-US" dirty="0"/>
              <a:t>AURICON_PNJ_U1: 6,033.9 MW from a full unit trip. That’s a single point-of-failure pattern, consistent with an equipment or protection-system issue.</a:t>
            </a:r>
          </a:p>
          <a:p>
            <a:pPr rtl="0"/>
            <a:endParaRPr lang="en-US" dirty="0"/>
          </a:p>
          <a:p>
            <a:pPr rtl="0"/>
            <a:r>
              <a:rPr lang="en-US" dirty="0"/>
              <a:t>MELK_G7: 1,100 MW, the smallest of the three, but the cause is safety-related, so it deserves review regardless of size.</a:t>
            </a:r>
          </a:p>
          <a:p>
            <a:pPr marL="0" lvl="0" indent="0" algn="l" rtl="0">
              <a:spcBef>
                <a:spcPts val="0"/>
              </a:spcBef>
              <a:spcAft>
                <a:spcPts val="0"/>
              </a:spcAft>
              <a:buNone/>
            </a:pPr>
            <a:endParaRPr dirty="0"/>
          </a:p>
        </p:txBody>
      </p:sp>
      <p:sp>
        <p:nvSpPr>
          <p:cNvPr id="109" name="Google Shape;10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Four actions, and each one maps back to a finding.</a:t>
            </a:r>
          </a:p>
          <a:p>
            <a:pPr rtl="0"/>
            <a:endParaRPr lang="en-US" dirty="0"/>
          </a:p>
          <a:p>
            <a:pPr rtl="0"/>
            <a:r>
              <a:rPr lang="en-US" dirty="0"/>
              <a:t>One: audit the three concentrated facilities first. That’s where roughly 60% of the loss lives, so it’s the highest return on effort.</a:t>
            </a:r>
          </a:p>
          <a:p>
            <a:pPr rtl="0"/>
            <a:endParaRPr lang="en-US" dirty="0"/>
          </a:p>
          <a:p>
            <a:pPr rtl="0"/>
            <a:r>
              <a:rPr lang="en-US" dirty="0"/>
              <a:t>Two: split the review into two tracks. Frequency-focused compliance for AURICON and GW, duration-focused engineering review for EUCT, WGUTD, and MELK.</a:t>
            </a:r>
          </a:p>
          <a:p>
            <a:pPr rtl="0"/>
            <a:endParaRPr lang="en-US" dirty="0"/>
          </a:p>
          <a:p>
            <a:pPr rtl="0"/>
            <a:r>
              <a:rPr lang="en-US" dirty="0"/>
              <a:t>Three: report forced-share as a standing metric. It moved 9.3 points in a year while total volume looked only modestly worse. If we’d only tracked totals, we’d have missed it.</a:t>
            </a:r>
          </a:p>
          <a:p>
            <a:pPr rtl="0"/>
            <a:endParaRPr lang="en-US" dirty="0"/>
          </a:p>
          <a:p>
            <a:pPr rtl="0"/>
            <a:r>
              <a:rPr lang="en-US" dirty="0"/>
              <a:t>Four: refine the risk model to score on forced-outage duration and frequency only, since the other types don’t threaten grid security.</a:t>
            </a:r>
          </a:p>
          <a:p>
            <a:pPr rtl="0"/>
            <a:endParaRPr lang="en-US" dirty="0"/>
          </a:p>
          <a:p>
            <a:pPr marL="0" lvl="0" indent="0" algn="l" rtl="0">
              <a:spcBef>
                <a:spcPts val="0"/>
              </a:spcBef>
              <a:spcAft>
                <a:spcPts val="0"/>
              </a:spcAft>
              <a:buNone/>
            </a:pPr>
            <a:endParaRPr dirty="0"/>
          </a:p>
        </p:txBody>
      </p:sp>
      <p:sp>
        <p:nvSpPr>
          <p:cNvPr id="143" name="Google Shape;14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All data comes from the AEMR outage table, calendar years 2016 to 2017, approved outages only. Duration is calculated from start and end timestamps.</a:t>
            </a:r>
            <a:endParaRPr dirty="0"/>
          </a:p>
        </p:txBody>
      </p:sp>
      <p:sp>
        <p:nvSpPr>
          <p:cNvPr id="170" name="Google Shape;17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txBox="1"/>
          <p:nvPr/>
        </p:nvSpPr>
        <p:spPr>
          <a:xfrm>
            <a:off x="822960" y="196596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200"/>
              <a:buFont typeface="Calibri"/>
              <a:buNone/>
            </a:pPr>
            <a:r>
              <a:rPr lang="en-US" sz="1200" b="1" i="0" u="none" strike="noStrike" cap="none">
                <a:solidFill>
                  <a:srgbClr val="E8871E"/>
                </a:solidFill>
                <a:latin typeface="Calibri"/>
                <a:ea typeface="Calibri"/>
                <a:cs typeface="Calibri"/>
                <a:sym typeface="Calibri"/>
              </a:rPr>
              <a:t>AEMR CASE STUDY</a:t>
            </a:r>
            <a:endParaRPr sz="1200" b="0" i="0" u="none" strike="noStrike" cap="none">
              <a:solidFill>
                <a:schemeClr val="dk1"/>
              </a:solidFill>
              <a:latin typeface="Calibri"/>
              <a:ea typeface="Calibri"/>
              <a:cs typeface="Calibri"/>
              <a:sym typeface="Calibri"/>
            </a:endParaRPr>
          </a:p>
        </p:txBody>
      </p:sp>
      <p:sp>
        <p:nvSpPr>
          <p:cNvPr id="17" name="Google Shape;17;p3"/>
          <p:cNvSpPr txBox="1"/>
          <p:nvPr/>
        </p:nvSpPr>
        <p:spPr>
          <a:xfrm>
            <a:off x="822960" y="2377440"/>
            <a:ext cx="10058400" cy="11887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42850"/>
              </a:buClr>
              <a:buSzPts val="4000"/>
              <a:buFont typeface="Cambria"/>
              <a:buNone/>
            </a:pPr>
            <a:r>
              <a:rPr lang="en-US" sz="4000" b="1" i="0" u="none" strike="noStrike" cap="none">
                <a:solidFill>
                  <a:srgbClr val="142850"/>
                </a:solidFill>
                <a:latin typeface="Cambria"/>
                <a:ea typeface="Cambria"/>
                <a:cs typeface="Cambria"/>
                <a:sym typeface="Cambria"/>
              </a:rPr>
              <a:t>AEMR Outage &amp; Reliability Analysis</a:t>
            </a:r>
            <a:endParaRPr sz="4000" b="0" i="0" u="none" strike="noStrike" cap="none">
              <a:solidFill>
                <a:schemeClr val="dk1"/>
              </a:solidFill>
              <a:latin typeface="Calibri"/>
              <a:ea typeface="Calibri"/>
              <a:cs typeface="Calibri"/>
              <a:sym typeface="Calibri"/>
            </a:endParaRPr>
          </a:p>
        </p:txBody>
      </p:sp>
      <p:sp>
        <p:nvSpPr>
          <p:cNvPr id="18" name="Google Shape;18;p3"/>
          <p:cNvSpPr txBox="1"/>
          <p:nvPr/>
        </p:nvSpPr>
        <p:spPr>
          <a:xfrm>
            <a:off x="822960" y="3383280"/>
            <a:ext cx="9144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7A99"/>
              </a:buClr>
              <a:buSzPts val="1800"/>
              <a:buFont typeface="Calibri"/>
              <a:buNone/>
            </a:pPr>
            <a:r>
              <a:rPr lang="en-US" sz="1800" b="0" i="0" u="none" strike="noStrike" cap="none">
                <a:solidFill>
                  <a:srgbClr val="5C7A99"/>
                </a:solidFill>
                <a:latin typeface="Calibri"/>
                <a:ea typeface="Calibri"/>
                <a:cs typeface="Calibri"/>
                <a:sym typeface="Calibri"/>
              </a:rPr>
              <a:t>Executive Presentation</a:t>
            </a:r>
            <a:endParaRPr sz="1800" b="0" i="0" u="none" strike="noStrike" cap="none">
              <a:solidFill>
                <a:schemeClr val="dk1"/>
              </a:solidFill>
              <a:latin typeface="Calibri"/>
              <a:ea typeface="Calibri"/>
              <a:cs typeface="Calibri"/>
              <a:sym typeface="Calibri"/>
            </a:endParaRPr>
          </a:p>
        </p:txBody>
      </p:sp>
      <p:cxnSp>
        <p:nvCxnSpPr>
          <p:cNvPr id="19" name="Google Shape;19;p3"/>
          <p:cNvCxnSpPr/>
          <p:nvPr/>
        </p:nvCxnSpPr>
        <p:spPr>
          <a:xfrm>
            <a:off x="822960" y="4160520"/>
            <a:ext cx="4206240" cy="0"/>
          </a:xfrm>
          <a:prstGeom prst="straightConnector1">
            <a:avLst/>
          </a:prstGeom>
          <a:noFill/>
          <a:ln w="12700" cap="flat" cmpd="sng">
            <a:solidFill>
              <a:srgbClr val="DDE2E8"/>
            </a:solidFill>
            <a:prstDash val="solid"/>
            <a:round/>
            <a:headEnd type="none" w="sm" len="sm"/>
            <a:tailEnd type="none" w="sm" len="sm"/>
          </a:ln>
        </p:spPr>
      </p:cxnSp>
      <p:sp>
        <p:nvSpPr>
          <p:cNvPr id="20" name="Google Shape;20;p3"/>
          <p:cNvSpPr txBox="1"/>
          <p:nvPr/>
        </p:nvSpPr>
        <p:spPr>
          <a:xfrm>
            <a:off x="822960" y="4343400"/>
            <a:ext cx="5486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500"/>
              <a:buFont typeface="Calibri"/>
              <a:buNone/>
            </a:pPr>
            <a:r>
              <a:rPr lang="en-US" sz="1500" b="1" i="0" u="none" strike="noStrike" cap="none">
                <a:solidFill>
                  <a:srgbClr val="142850"/>
                </a:solidFill>
                <a:latin typeface="Calibri"/>
                <a:ea typeface="Calibri"/>
                <a:cs typeface="Calibri"/>
                <a:sym typeface="Calibri"/>
              </a:rPr>
              <a:t>Michelle Fore</a:t>
            </a:r>
            <a:endParaRPr sz="1500" b="0" i="0" u="none" strike="noStrike" cap="none">
              <a:solidFill>
                <a:schemeClr val="dk1"/>
              </a:solidFill>
              <a:latin typeface="Calibri"/>
              <a:ea typeface="Calibri"/>
              <a:cs typeface="Calibri"/>
              <a:sym typeface="Calibri"/>
            </a:endParaRPr>
          </a:p>
        </p:txBody>
      </p:sp>
      <p:sp>
        <p:nvSpPr>
          <p:cNvPr id="21" name="Google Shape;21;p3"/>
          <p:cNvSpPr txBox="1"/>
          <p:nvPr/>
        </p:nvSpPr>
        <p:spPr>
          <a:xfrm>
            <a:off x="822960" y="4709160"/>
            <a:ext cx="5486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250"/>
              <a:buFont typeface="Calibri"/>
              <a:buNone/>
            </a:pPr>
            <a:r>
              <a:rPr lang="en-US" sz="1250" b="0" i="0" u="none" strike="noStrike" cap="none">
                <a:solidFill>
                  <a:srgbClr val="6B7280"/>
                </a:solidFill>
                <a:latin typeface="Calibri"/>
                <a:ea typeface="Calibri"/>
                <a:cs typeface="Calibri"/>
                <a:sym typeface="Calibri"/>
              </a:rPr>
              <a:t>September 26, 2026</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4"/>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EXECUTIVE SUMMARY</a:t>
            </a:r>
            <a:endParaRPr sz="1150" b="0" i="0" u="none" strike="noStrike" cap="none">
              <a:solidFill>
                <a:schemeClr val="dk1"/>
              </a:solidFill>
              <a:latin typeface="Calibri"/>
              <a:ea typeface="Calibri"/>
              <a:cs typeface="Calibri"/>
              <a:sym typeface="Calibri"/>
            </a:endParaRPr>
          </a:p>
        </p:txBody>
      </p:sp>
      <p:sp>
        <p:nvSpPr>
          <p:cNvPr id="28" name="Google Shape;28;p4"/>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Forced outages are outpacing the market, and three providers, GW, AURICON, and MELK, drive most of the resulting energy loss.</a:t>
            </a:r>
            <a:endParaRPr sz="2500" b="0" i="0" u="none" strike="noStrike" cap="none">
              <a:solidFill>
                <a:schemeClr val="dk1"/>
              </a:solidFill>
              <a:latin typeface="Calibri"/>
              <a:ea typeface="Calibri"/>
              <a:cs typeface="Calibri"/>
              <a:sym typeface="Calibri"/>
            </a:endParaRPr>
          </a:p>
        </p:txBody>
      </p:sp>
      <p:sp>
        <p:nvSpPr>
          <p:cNvPr id="29" name="Google Shape;29;p4"/>
          <p:cNvSpPr txBox="1"/>
          <p:nvPr/>
        </p:nvSpPr>
        <p:spPr>
          <a:xfrm>
            <a:off x="640080" y="1874520"/>
            <a:ext cx="10607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300"/>
              <a:buFont typeface="Calibri"/>
              <a:buNone/>
            </a:pPr>
            <a:r>
              <a:rPr lang="en-US" sz="1300" b="0" i="0" u="none" strike="noStrike" cap="none">
                <a:solidFill>
                  <a:srgbClr val="6B7280"/>
                </a:solidFill>
                <a:latin typeface="Calibri"/>
                <a:ea typeface="Calibri"/>
                <a:cs typeface="Calibri"/>
                <a:sym typeface="Calibri"/>
              </a:rPr>
              <a:t>Each of those three losses traces back to one specific, fixable facility failure, which is what makes this an operational problem, not just a market-wide trend.</a:t>
            </a:r>
            <a:endParaRPr sz="1300" b="0" i="0" u="none" strike="noStrike" cap="none">
              <a:solidFill>
                <a:schemeClr val="dk1"/>
              </a:solidFill>
              <a:latin typeface="Calibri"/>
              <a:ea typeface="Calibri"/>
              <a:cs typeface="Calibri"/>
              <a:sym typeface="Calibri"/>
            </a:endParaRPr>
          </a:p>
        </p:txBody>
      </p:sp>
      <p:sp>
        <p:nvSpPr>
          <p:cNvPr id="30" name="Google Shape;30;p4"/>
          <p:cNvSpPr txBox="1"/>
          <p:nvPr/>
        </p:nvSpPr>
        <p:spPr>
          <a:xfrm>
            <a:off x="640080" y="2743200"/>
            <a:ext cx="30632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3200"/>
              <a:buFont typeface="Cambria"/>
              <a:buNone/>
            </a:pPr>
            <a:r>
              <a:rPr lang="en-US" sz="3200" b="1" i="0" u="none" strike="noStrike" cap="none">
                <a:solidFill>
                  <a:srgbClr val="142850"/>
                </a:solidFill>
                <a:latin typeface="Cambria"/>
                <a:ea typeface="Cambria"/>
                <a:cs typeface="Cambria"/>
                <a:sym typeface="Cambria"/>
              </a:rPr>
              <a:t>1,622</a:t>
            </a:r>
            <a:endParaRPr sz="3200" b="0" i="0" u="none" strike="noStrike" cap="none">
              <a:solidFill>
                <a:schemeClr val="dk1"/>
              </a:solidFill>
              <a:latin typeface="Calibri"/>
              <a:ea typeface="Calibri"/>
              <a:cs typeface="Calibri"/>
              <a:sym typeface="Calibri"/>
            </a:endParaRPr>
          </a:p>
        </p:txBody>
      </p:sp>
      <p:sp>
        <p:nvSpPr>
          <p:cNvPr id="31" name="Google Shape;31;p4"/>
          <p:cNvSpPr txBox="1"/>
          <p:nvPr/>
        </p:nvSpPr>
        <p:spPr>
          <a:xfrm>
            <a:off x="640080" y="3364992"/>
            <a:ext cx="306324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forced outages in 2017,</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up 28% from 2016</a:t>
            </a:r>
            <a:endParaRPr sz="1100" b="0" i="0" u="none" strike="noStrike" cap="none">
              <a:solidFill>
                <a:schemeClr val="dk1"/>
              </a:solidFill>
              <a:latin typeface="Calibri"/>
              <a:ea typeface="Calibri"/>
              <a:cs typeface="Calibri"/>
              <a:sym typeface="Calibri"/>
            </a:endParaRPr>
          </a:p>
        </p:txBody>
      </p:sp>
      <p:cxnSp>
        <p:nvCxnSpPr>
          <p:cNvPr id="32" name="Google Shape;32;p4"/>
          <p:cNvCxnSpPr/>
          <p:nvPr/>
        </p:nvCxnSpPr>
        <p:spPr>
          <a:xfrm>
            <a:off x="4023360" y="2788920"/>
            <a:ext cx="0" cy="1234440"/>
          </a:xfrm>
          <a:prstGeom prst="straightConnector1">
            <a:avLst/>
          </a:prstGeom>
          <a:noFill/>
          <a:ln w="12700" cap="flat" cmpd="sng">
            <a:solidFill>
              <a:srgbClr val="DDE2E8"/>
            </a:solidFill>
            <a:prstDash val="solid"/>
            <a:round/>
            <a:headEnd type="none" w="sm" len="sm"/>
            <a:tailEnd type="none" w="sm" len="sm"/>
          </a:ln>
        </p:spPr>
      </p:cxnSp>
      <p:sp>
        <p:nvSpPr>
          <p:cNvPr id="33" name="Google Shape;33;p4"/>
          <p:cNvSpPr txBox="1"/>
          <p:nvPr/>
        </p:nvSpPr>
        <p:spPr>
          <a:xfrm>
            <a:off x="4160520" y="2743200"/>
            <a:ext cx="30632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3200"/>
              <a:buFont typeface="Cambria"/>
              <a:buNone/>
            </a:pPr>
            <a:r>
              <a:rPr lang="en-US" sz="3200" b="1" i="0" u="none" strike="noStrike" cap="none">
                <a:solidFill>
                  <a:srgbClr val="142850"/>
                </a:solidFill>
                <a:latin typeface="Cambria"/>
                <a:ea typeface="Cambria"/>
                <a:cs typeface="Cambria"/>
                <a:sym typeface="Cambria"/>
              </a:rPr>
              <a:t>74.7%</a:t>
            </a:r>
            <a:endParaRPr sz="3200" b="0" i="0" u="none" strike="noStrike" cap="none">
              <a:solidFill>
                <a:schemeClr val="dk1"/>
              </a:solidFill>
              <a:latin typeface="Calibri"/>
              <a:ea typeface="Calibri"/>
              <a:cs typeface="Calibri"/>
              <a:sym typeface="Calibri"/>
            </a:endParaRPr>
          </a:p>
        </p:txBody>
      </p:sp>
      <p:sp>
        <p:nvSpPr>
          <p:cNvPr id="34" name="Google Shape;34;p4"/>
          <p:cNvSpPr txBox="1"/>
          <p:nvPr/>
        </p:nvSpPr>
        <p:spPr>
          <a:xfrm>
            <a:off x="4160520" y="3364992"/>
            <a:ext cx="306324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of all approved 2017 outages</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were forced (up from 65.5%)</a:t>
            </a:r>
            <a:endParaRPr sz="1100" b="0" i="0" u="none" strike="noStrike" cap="none">
              <a:solidFill>
                <a:schemeClr val="dk1"/>
              </a:solidFill>
              <a:latin typeface="Calibri"/>
              <a:ea typeface="Calibri"/>
              <a:cs typeface="Calibri"/>
              <a:sym typeface="Calibri"/>
            </a:endParaRPr>
          </a:p>
        </p:txBody>
      </p:sp>
      <p:cxnSp>
        <p:nvCxnSpPr>
          <p:cNvPr id="35" name="Google Shape;35;p4"/>
          <p:cNvCxnSpPr/>
          <p:nvPr/>
        </p:nvCxnSpPr>
        <p:spPr>
          <a:xfrm>
            <a:off x="7543800" y="2788920"/>
            <a:ext cx="0" cy="1234440"/>
          </a:xfrm>
          <a:prstGeom prst="straightConnector1">
            <a:avLst/>
          </a:prstGeom>
          <a:noFill/>
          <a:ln w="12700" cap="flat" cmpd="sng">
            <a:solidFill>
              <a:srgbClr val="DDE2E8"/>
            </a:solidFill>
            <a:prstDash val="solid"/>
            <a:round/>
            <a:headEnd type="none" w="sm" len="sm"/>
            <a:tailEnd type="none" w="sm" len="sm"/>
          </a:ln>
        </p:spPr>
      </p:cxnSp>
      <p:sp>
        <p:nvSpPr>
          <p:cNvPr id="36" name="Google Shape;36;p4"/>
          <p:cNvSpPr txBox="1"/>
          <p:nvPr/>
        </p:nvSpPr>
        <p:spPr>
          <a:xfrm>
            <a:off x="7680960" y="2743200"/>
            <a:ext cx="30632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3200"/>
              <a:buFont typeface="Cambria"/>
              <a:buNone/>
            </a:pPr>
            <a:r>
              <a:rPr lang="en-US" sz="3200" b="1" i="0" u="none" strike="noStrike" cap="none">
                <a:solidFill>
                  <a:srgbClr val="142850"/>
                </a:solidFill>
                <a:latin typeface="Cambria"/>
                <a:ea typeface="Cambria"/>
                <a:cs typeface="Cambria"/>
                <a:sym typeface="Cambria"/>
              </a:rPr>
              <a:t>~60%</a:t>
            </a:r>
            <a:endParaRPr sz="3200" b="0" i="0" u="none" strike="noStrike" cap="none">
              <a:solidFill>
                <a:schemeClr val="dk1"/>
              </a:solidFill>
              <a:latin typeface="Calibri"/>
              <a:ea typeface="Calibri"/>
              <a:cs typeface="Calibri"/>
              <a:sym typeface="Calibri"/>
            </a:endParaRPr>
          </a:p>
        </p:txBody>
      </p:sp>
      <p:sp>
        <p:nvSpPr>
          <p:cNvPr id="37" name="Google Shape;37;p4"/>
          <p:cNvSpPr txBox="1"/>
          <p:nvPr/>
        </p:nvSpPr>
        <p:spPr>
          <a:xfrm>
            <a:off x="7680960" y="3364992"/>
            <a:ext cx="306324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of forced-outage energy loss</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B7280"/>
              </a:buClr>
              <a:buSzPts val="1100"/>
              <a:buFont typeface="Calibri"/>
              <a:buNone/>
            </a:pPr>
            <a:r>
              <a:rPr lang="en-US" sz="1100" b="0" i="0" u="none" strike="noStrike" cap="none">
                <a:solidFill>
                  <a:srgbClr val="6B7280"/>
                </a:solidFill>
                <a:latin typeface="Calibri"/>
                <a:ea typeface="Calibri"/>
                <a:cs typeface="Calibri"/>
                <a:sym typeface="Calibri"/>
              </a:rPr>
              <a:t>held by just 3 providers</a:t>
            </a:r>
            <a:endParaRPr sz="1100" b="0" i="0" u="none" strike="noStrike" cap="none">
              <a:solidFill>
                <a:schemeClr val="dk1"/>
              </a:solidFill>
              <a:latin typeface="Calibri"/>
              <a:ea typeface="Calibri"/>
              <a:cs typeface="Calibri"/>
              <a:sym typeface="Calibri"/>
            </a:endParaRPr>
          </a:p>
        </p:txBody>
      </p:sp>
      <p:cxnSp>
        <p:nvCxnSpPr>
          <p:cNvPr id="38" name="Google Shape;38;p4"/>
          <p:cNvCxnSpPr/>
          <p:nvPr/>
        </p:nvCxnSpPr>
        <p:spPr>
          <a:xfrm>
            <a:off x="640080" y="4251960"/>
            <a:ext cx="10908792" cy="0"/>
          </a:xfrm>
          <a:prstGeom prst="straightConnector1">
            <a:avLst/>
          </a:prstGeom>
          <a:noFill/>
          <a:ln w="12700" cap="flat" cmpd="sng">
            <a:solidFill>
              <a:srgbClr val="DDE2E8"/>
            </a:solidFill>
            <a:prstDash val="solid"/>
            <a:round/>
            <a:headEnd type="none" w="sm" len="sm"/>
            <a:tailEnd type="none" w="sm" len="sm"/>
          </a:ln>
        </p:spPr>
      </p:cxnSp>
      <p:sp>
        <p:nvSpPr>
          <p:cNvPr id="39" name="Google Shape;39;p4"/>
          <p:cNvSpPr txBox="1"/>
          <p:nvPr/>
        </p:nvSpPr>
        <p:spPr>
          <a:xfrm>
            <a:off x="640080" y="4480560"/>
            <a:ext cx="4572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500"/>
              <a:buFont typeface="Cambria"/>
              <a:buNone/>
            </a:pPr>
            <a:r>
              <a:rPr lang="en-US" sz="1500" b="1" i="0" u="none" strike="noStrike" cap="none">
                <a:solidFill>
                  <a:srgbClr val="142850"/>
                </a:solidFill>
                <a:latin typeface="Cambria"/>
                <a:ea typeface="Cambria"/>
                <a:cs typeface="Cambria"/>
                <a:sym typeface="Cambria"/>
              </a:rPr>
              <a:t>Key findings</a:t>
            </a:r>
            <a:endParaRPr sz="1500" b="0" i="0" u="none" strike="noStrike" cap="none">
              <a:solidFill>
                <a:schemeClr val="dk1"/>
              </a:solidFill>
              <a:latin typeface="Calibri"/>
              <a:ea typeface="Calibri"/>
              <a:cs typeface="Calibri"/>
              <a:sym typeface="Calibri"/>
            </a:endParaRPr>
          </a:p>
        </p:txBody>
      </p:sp>
      <p:sp>
        <p:nvSpPr>
          <p:cNvPr id="40" name="Google Shape;40;p4"/>
          <p:cNvSpPr txBox="1"/>
          <p:nvPr/>
        </p:nvSpPr>
        <p:spPr>
          <a:xfrm>
            <a:off x="640080" y="4846320"/>
            <a:ext cx="10607040" cy="1463040"/>
          </a:xfrm>
          <a:prstGeom prst="rect">
            <a:avLst/>
          </a:prstGeom>
          <a:noFill/>
          <a:ln>
            <a:noFill/>
          </a:ln>
        </p:spPr>
        <p:txBody>
          <a:bodyPr spcFirstLastPara="1" wrap="square" lIns="0" tIns="0" rIns="0" bIns="0" anchor="ctr" anchorCtr="0">
            <a:noAutofit/>
          </a:bodyPr>
          <a:lstStyle/>
          <a:p>
            <a:pPr marL="342900" marR="0" lvl="0" indent="-342900" algn="l" rtl="0">
              <a:lnSpc>
                <a:spcPct val="115000"/>
              </a:lnSpc>
              <a:spcBef>
                <a:spcPts val="0"/>
              </a:spcBef>
              <a:spcAft>
                <a:spcPts val="0"/>
              </a:spcAft>
              <a:buClr>
                <a:srgbClr val="1B1B1B"/>
              </a:buClr>
              <a:buSzPts val="1250"/>
              <a:buFont typeface="Calibri"/>
              <a:buChar char="•"/>
            </a:pPr>
            <a:r>
              <a:rPr lang="en-US" sz="1250" b="0" i="0" u="none" strike="noStrike" cap="none">
                <a:solidFill>
                  <a:srgbClr val="1B1B1B"/>
                </a:solidFill>
                <a:latin typeface="Calibri"/>
                <a:ea typeface="Calibri"/>
                <a:cs typeface="Calibri"/>
                <a:sym typeface="Calibri"/>
              </a:rPr>
              <a:t>Forced outages grew 28% while every other outage type combined fell 18%, so the mix is shifting toward the one type AEMR penalizes.</a:t>
            </a:r>
            <a:endParaRPr sz="12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250"/>
              <a:buFont typeface="Calibri"/>
              <a:buChar char="•"/>
            </a:pPr>
            <a:r>
              <a:rPr lang="en-US" sz="1250" b="0" i="0" u="none" strike="noStrike" cap="none">
                <a:solidFill>
                  <a:srgbClr val="1B1B1B"/>
                </a:solidFill>
                <a:latin typeface="Calibri"/>
                <a:ea typeface="Calibri"/>
                <a:cs typeface="Calibri"/>
                <a:sym typeface="Calibri"/>
              </a:rPr>
              <a:t>AURICON and GW alone logged more forced events than the next five providers combined.</a:t>
            </a:r>
            <a:endParaRPr sz="12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250"/>
              <a:buFont typeface="Calibri"/>
              <a:buChar char="•"/>
            </a:pPr>
            <a:r>
              <a:rPr lang="en-US" sz="1250" b="0" i="0" u="none" strike="noStrike" cap="none">
                <a:solidFill>
                  <a:srgbClr val="1B1B1B"/>
                </a:solidFill>
                <a:latin typeface="Calibri"/>
                <a:ea typeface="Calibri"/>
                <a:cs typeface="Calibri"/>
                <a:sym typeface="Calibri"/>
              </a:rPr>
              <a:t>Three facilities, GW's BW1_GREENWATERS_G2, AURICON_PNJ_U1, and MELK_G7, each map to one specific failure and are the fastest lever to cut total energy loss.</a:t>
            </a:r>
            <a:endParaRPr sz="1250" b="0" i="0" u="none" strike="noStrike" cap="none">
              <a:solidFill>
                <a:schemeClr val="dk1"/>
              </a:solidFill>
              <a:latin typeface="Calibri"/>
              <a:ea typeface="Calibri"/>
              <a:cs typeface="Calibri"/>
              <a:sym typeface="Calibri"/>
            </a:endParaRPr>
          </a:p>
        </p:txBody>
      </p:sp>
      <p:sp>
        <p:nvSpPr>
          <p:cNvPr id="41" name="Google Shape;41;p4"/>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2</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
        <p:cNvGrpSpPr/>
        <p:nvPr/>
      </p:nvGrpSpPr>
      <p:grpSpPr>
        <a:xfrm>
          <a:off x="0" y="0"/>
          <a:ext cx="0" cy="0"/>
          <a:chOff x="0" y="0"/>
          <a:chExt cx="0" cy="0"/>
        </a:xfrm>
      </p:grpSpPr>
      <p:sp>
        <p:nvSpPr>
          <p:cNvPr id="47" name="Google Shape;47;p5"/>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PART I | ENERGY STABILITY &amp; MARKET OUTAGES</a:t>
            </a:r>
            <a:endParaRPr sz="1150" b="0" i="0" u="none" strike="noStrike" cap="none">
              <a:solidFill>
                <a:schemeClr val="dk1"/>
              </a:solidFill>
              <a:latin typeface="Calibri"/>
              <a:ea typeface="Calibri"/>
              <a:cs typeface="Calibri"/>
              <a:sym typeface="Calibri"/>
            </a:endParaRPr>
          </a:p>
        </p:txBody>
      </p:sp>
      <p:sp>
        <p:nvSpPr>
          <p:cNvPr id="48" name="Google Shape;48;p5"/>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Forced outages grew 28% in 2017 while every other outage type combined declined 18%.</a:t>
            </a:r>
            <a:endParaRPr sz="2500" b="0" i="0" u="none" strike="noStrike" cap="none">
              <a:solidFill>
                <a:schemeClr val="dk1"/>
              </a:solidFill>
              <a:latin typeface="Calibri"/>
              <a:ea typeface="Calibri"/>
              <a:cs typeface="Calibri"/>
              <a:sym typeface="Calibri"/>
            </a:endParaRPr>
          </a:p>
        </p:txBody>
      </p:sp>
      <p:pic>
        <p:nvPicPr>
          <p:cNvPr id="49" name="Google Shape;49;p5"/>
          <p:cNvPicPr preferRelativeResize="0"/>
          <p:nvPr/>
        </p:nvPicPr>
        <p:blipFill rotWithShape="1">
          <a:blip r:embed="rId3">
            <a:alphaModFix/>
          </a:blip>
          <a:srcRect/>
          <a:stretch/>
        </p:blipFill>
        <p:spPr>
          <a:xfrm>
            <a:off x="640080" y="1920240"/>
            <a:ext cx="6492240" cy="4160520"/>
          </a:xfrm>
          <a:prstGeom prst="rect">
            <a:avLst/>
          </a:prstGeom>
          <a:noFill/>
          <a:ln>
            <a:noFill/>
          </a:ln>
        </p:spPr>
      </p:pic>
      <p:cxnSp>
        <p:nvCxnSpPr>
          <p:cNvPr id="50" name="Google Shape;50;p5"/>
          <p:cNvCxnSpPr/>
          <p:nvPr/>
        </p:nvCxnSpPr>
        <p:spPr>
          <a:xfrm>
            <a:off x="7452360" y="1965960"/>
            <a:ext cx="0" cy="4069080"/>
          </a:xfrm>
          <a:prstGeom prst="straightConnector1">
            <a:avLst/>
          </a:prstGeom>
          <a:noFill/>
          <a:ln w="12700" cap="flat" cmpd="sng">
            <a:solidFill>
              <a:srgbClr val="DDE2E8"/>
            </a:solidFill>
            <a:prstDash val="solid"/>
            <a:round/>
            <a:headEnd type="none" w="sm" len="sm"/>
            <a:tailEnd type="none" w="sm" len="sm"/>
          </a:ln>
        </p:spPr>
      </p:cxnSp>
      <p:sp>
        <p:nvSpPr>
          <p:cNvPr id="51" name="Google Shape;51;p5"/>
          <p:cNvSpPr txBox="1"/>
          <p:nvPr/>
        </p:nvSpPr>
        <p:spPr>
          <a:xfrm>
            <a:off x="7680960" y="1965960"/>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500"/>
              <a:buFont typeface="Cambria"/>
              <a:buNone/>
            </a:pPr>
            <a:r>
              <a:rPr lang="en-US" sz="1500" b="1" i="0" u="none" strike="noStrike" cap="none">
                <a:solidFill>
                  <a:srgbClr val="142850"/>
                </a:solidFill>
                <a:latin typeface="Cambria"/>
                <a:ea typeface="Cambria"/>
                <a:cs typeface="Cambria"/>
                <a:sym typeface="Cambria"/>
              </a:rPr>
              <a:t>What changed</a:t>
            </a:r>
            <a:endParaRPr sz="1500" b="0" i="0" u="none" strike="noStrike" cap="none">
              <a:solidFill>
                <a:schemeClr val="dk1"/>
              </a:solidFill>
              <a:latin typeface="Calibri"/>
              <a:ea typeface="Calibri"/>
              <a:cs typeface="Calibri"/>
              <a:sym typeface="Calibri"/>
            </a:endParaRPr>
          </a:p>
        </p:txBody>
      </p:sp>
      <p:sp>
        <p:nvSpPr>
          <p:cNvPr id="52" name="Google Shape;52;p5"/>
          <p:cNvSpPr txBox="1"/>
          <p:nvPr/>
        </p:nvSpPr>
        <p:spPr>
          <a:xfrm>
            <a:off x="7680960" y="2377440"/>
            <a:ext cx="3840480" cy="2377440"/>
          </a:xfrm>
          <a:prstGeom prst="rect">
            <a:avLst/>
          </a:prstGeom>
          <a:noFill/>
          <a:ln>
            <a:noFill/>
          </a:ln>
        </p:spPr>
        <p:txBody>
          <a:bodyPr spcFirstLastPara="1" wrap="square" lIns="0" tIns="0" rIns="0" bIns="0" anchor="t" anchorCtr="0">
            <a:noAutofit/>
          </a:bodyPr>
          <a:lstStyle/>
          <a:p>
            <a:pPr marL="342900" marR="0" lvl="0" indent="-342900" algn="l" rtl="0">
              <a:lnSpc>
                <a:spcPct val="115000"/>
              </a:lnSpc>
              <a:spcBef>
                <a:spcPts val="0"/>
              </a:spcBef>
              <a:spcAft>
                <a:spcPts val="0"/>
              </a:spcAft>
              <a:buClr>
                <a:srgbClr val="1B1B1B"/>
              </a:buClr>
              <a:buSzPts val="1150"/>
              <a:buFont typeface="Calibri"/>
              <a:buChar char="•"/>
            </a:pPr>
            <a:r>
              <a:rPr lang="en-US" sz="1150" b="0" i="0" u="none" strike="noStrike" cap="none">
                <a:solidFill>
                  <a:srgbClr val="1B1B1B"/>
                </a:solidFill>
                <a:latin typeface="Calibri"/>
                <a:ea typeface="Calibri"/>
                <a:cs typeface="Calibri"/>
                <a:sym typeface="Calibri"/>
              </a:rPr>
              <a:t>Total approved outages rose 12.4% (1,931 → 2,171).</a:t>
            </a:r>
            <a:endParaRPr sz="11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150"/>
              <a:buFont typeface="Calibri"/>
              <a:buChar char="•"/>
            </a:pPr>
            <a:r>
              <a:rPr lang="en-US" sz="1150" b="0" i="0" u="none" strike="noStrike" cap="none">
                <a:solidFill>
                  <a:srgbClr val="1B1B1B"/>
                </a:solidFill>
                <a:latin typeface="Calibri"/>
                <a:ea typeface="Calibri"/>
                <a:cs typeface="Calibri"/>
                <a:sym typeface="Calibri"/>
              </a:rPr>
              <a:t>Forced outages, the only type AEMR penalizes, rose 28.3% (1,264 → 1,622).</a:t>
            </a:r>
            <a:endParaRPr sz="11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150"/>
              <a:buFont typeface="Calibri"/>
              <a:buChar char="•"/>
            </a:pPr>
            <a:r>
              <a:rPr lang="en-US" sz="1150" b="0" i="0" u="none" strike="noStrike" cap="none">
                <a:solidFill>
                  <a:srgbClr val="1B1B1B"/>
                </a:solidFill>
                <a:latin typeface="Calibri"/>
                <a:ea typeface="Calibri"/>
                <a:cs typeface="Calibri"/>
                <a:sym typeface="Calibri"/>
              </a:rPr>
              <a:t>Every other outage type combined fell 17.7% (667 → 549).</a:t>
            </a:r>
            <a:endParaRPr sz="1150" b="0" i="0" u="none" strike="noStrike" cap="none">
              <a:solidFill>
                <a:schemeClr val="dk1"/>
              </a:solidFill>
              <a:latin typeface="Calibri"/>
              <a:ea typeface="Calibri"/>
              <a:cs typeface="Calibri"/>
              <a:sym typeface="Calibri"/>
            </a:endParaRPr>
          </a:p>
        </p:txBody>
      </p:sp>
      <p:sp>
        <p:nvSpPr>
          <p:cNvPr id="53" name="Google Shape;53;p5"/>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3</a:t>
            </a:r>
            <a:endParaRPr sz="950" b="0" i="0" u="none" strike="noStrike" cap="none">
              <a:solidFill>
                <a:schemeClr val="dk1"/>
              </a:solidFill>
              <a:latin typeface="Calibri"/>
              <a:ea typeface="Calibri"/>
              <a:cs typeface="Calibri"/>
              <a:sym typeface="Calibri"/>
            </a:endParaRPr>
          </a:p>
        </p:txBody>
      </p:sp>
      <p:sp>
        <p:nvSpPr>
          <p:cNvPr id="54" name="Google Shape;54;p5"/>
          <p:cNvSpPr txBox="1"/>
          <p:nvPr/>
        </p:nvSpPr>
        <p:spPr>
          <a:xfrm>
            <a:off x="2576325" y="5488425"/>
            <a:ext cx="5601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150">
                <a:solidFill>
                  <a:srgbClr val="1B1B1B"/>
                </a:solidFill>
                <a:latin typeface="Calibri"/>
                <a:ea typeface="Calibri"/>
                <a:cs typeface="Calibri"/>
                <a:sym typeface="Calibri"/>
              </a:rPr>
              <a:t>2016</a:t>
            </a:r>
            <a:endParaRPr/>
          </a:p>
        </p:txBody>
      </p:sp>
      <p:sp>
        <p:nvSpPr>
          <p:cNvPr id="55" name="Google Shape;55;p5"/>
          <p:cNvSpPr txBox="1"/>
          <p:nvPr/>
        </p:nvSpPr>
        <p:spPr>
          <a:xfrm>
            <a:off x="5371400" y="5488425"/>
            <a:ext cx="5601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150">
                <a:solidFill>
                  <a:srgbClr val="1B1B1B"/>
                </a:solidFill>
                <a:latin typeface="Calibri"/>
                <a:ea typeface="Calibri"/>
                <a:cs typeface="Calibri"/>
                <a:sym typeface="Calibri"/>
              </a:rPr>
              <a:t>2017</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
        <p:cNvGrpSpPr/>
        <p:nvPr/>
      </p:nvGrpSpPr>
      <p:grpSpPr>
        <a:xfrm>
          <a:off x="0" y="0"/>
          <a:ext cx="0" cy="0"/>
          <a:chOff x="0" y="0"/>
          <a:chExt cx="0" cy="0"/>
        </a:xfrm>
      </p:grpSpPr>
      <p:sp>
        <p:nvSpPr>
          <p:cNvPr id="61" name="Google Shape;61;p6"/>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PART I | ENERGY STABILITY &amp; MARKET OUTAGES</a:t>
            </a:r>
            <a:endParaRPr sz="1150" b="0" i="0" u="none" strike="noStrike" cap="none">
              <a:solidFill>
                <a:schemeClr val="dk1"/>
              </a:solidFill>
              <a:latin typeface="Calibri"/>
              <a:ea typeface="Calibri"/>
              <a:cs typeface="Calibri"/>
              <a:sym typeface="Calibri"/>
            </a:endParaRPr>
          </a:p>
        </p:txBody>
      </p:sp>
      <p:sp>
        <p:nvSpPr>
          <p:cNvPr id="62" name="Google Shape;62;p6"/>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Forced outages' share of the market jumped 9.3 percentage points in one year, from 65.5% to 74.7%.</a:t>
            </a:r>
            <a:endParaRPr sz="2500" b="0" i="0" u="none" strike="noStrike" cap="none">
              <a:solidFill>
                <a:schemeClr val="dk1"/>
              </a:solidFill>
              <a:latin typeface="Calibri"/>
              <a:ea typeface="Calibri"/>
              <a:cs typeface="Calibri"/>
              <a:sym typeface="Calibri"/>
            </a:endParaRPr>
          </a:p>
        </p:txBody>
      </p:sp>
      <p:pic>
        <p:nvPicPr>
          <p:cNvPr id="63" name="Google Shape;63;p6"/>
          <p:cNvPicPr preferRelativeResize="0"/>
          <p:nvPr/>
        </p:nvPicPr>
        <p:blipFill rotWithShape="1">
          <a:blip r:embed="rId3">
            <a:alphaModFix/>
          </a:blip>
          <a:srcRect/>
          <a:stretch/>
        </p:blipFill>
        <p:spPr>
          <a:xfrm>
            <a:off x="640080" y="1920240"/>
            <a:ext cx="5852160" cy="4160520"/>
          </a:xfrm>
          <a:prstGeom prst="rect">
            <a:avLst/>
          </a:prstGeom>
          <a:noFill/>
          <a:ln>
            <a:noFill/>
          </a:ln>
        </p:spPr>
      </p:pic>
      <p:cxnSp>
        <p:nvCxnSpPr>
          <p:cNvPr id="64" name="Google Shape;64;p6"/>
          <p:cNvCxnSpPr/>
          <p:nvPr/>
        </p:nvCxnSpPr>
        <p:spPr>
          <a:xfrm>
            <a:off x="6812280" y="1965960"/>
            <a:ext cx="0" cy="4069080"/>
          </a:xfrm>
          <a:prstGeom prst="straightConnector1">
            <a:avLst/>
          </a:prstGeom>
          <a:noFill/>
          <a:ln w="12700" cap="flat" cmpd="sng">
            <a:solidFill>
              <a:srgbClr val="DDE2E8"/>
            </a:solidFill>
            <a:prstDash val="solid"/>
            <a:round/>
            <a:headEnd type="none" w="sm" len="sm"/>
            <a:tailEnd type="none" w="sm" len="sm"/>
          </a:ln>
        </p:spPr>
      </p:cxnSp>
      <p:sp>
        <p:nvSpPr>
          <p:cNvPr id="65" name="Google Shape;65;p6"/>
          <p:cNvSpPr txBox="1"/>
          <p:nvPr/>
        </p:nvSpPr>
        <p:spPr>
          <a:xfrm>
            <a:off x="7040880" y="1965960"/>
            <a:ext cx="44805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500"/>
              <a:buFont typeface="Cambria"/>
              <a:buNone/>
            </a:pPr>
            <a:r>
              <a:rPr lang="en-US" sz="1500" b="1" i="0" u="none" strike="noStrike" cap="none">
                <a:solidFill>
                  <a:srgbClr val="142850"/>
                </a:solidFill>
                <a:latin typeface="Cambria"/>
                <a:ea typeface="Cambria"/>
                <a:cs typeface="Cambria"/>
                <a:sym typeface="Cambria"/>
              </a:rPr>
              <a:t>Why this matters to AEMR</a:t>
            </a:r>
            <a:endParaRPr sz="1500" b="0" i="0" u="none" strike="noStrike" cap="none">
              <a:solidFill>
                <a:schemeClr val="dk1"/>
              </a:solidFill>
              <a:latin typeface="Calibri"/>
              <a:ea typeface="Calibri"/>
              <a:cs typeface="Calibri"/>
              <a:sym typeface="Calibri"/>
            </a:endParaRPr>
          </a:p>
        </p:txBody>
      </p:sp>
      <p:sp>
        <p:nvSpPr>
          <p:cNvPr id="66" name="Google Shape;66;p6"/>
          <p:cNvSpPr txBox="1"/>
          <p:nvPr/>
        </p:nvSpPr>
        <p:spPr>
          <a:xfrm>
            <a:off x="7040880" y="2377440"/>
            <a:ext cx="4480560" cy="2834640"/>
          </a:xfrm>
          <a:prstGeom prst="rect">
            <a:avLst/>
          </a:prstGeom>
          <a:noFill/>
          <a:ln>
            <a:noFill/>
          </a:ln>
        </p:spPr>
        <p:txBody>
          <a:bodyPr spcFirstLastPara="1" wrap="square" lIns="0" tIns="0" rIns="0" bIns="0" anchor="t" anchorCtr="0">
            <a:noAutofit/>
          </a:bodyPr>
          <a:lstStyle/>
          <a:p>
            <a:pPr marL="342900" marR="0" lvl="0" indent="-342900" algn="l" rtl="0">
              <a:lnSpc>
                <a:spcPct val="115000"/>
              </a:lnSpc>
              <a:spcBef>
                <a:spcPts val="0"/>
              </a:spcBef>
              <a:spcAft>
                <a:spcPts val="0"/>
              </a:spcAft>
              <a:buClr>
                <a:srgbClr val="1B1B1B"/>
              </a:buClr>
              <a:buSzPts val="1130"/>
              <a:buFont typeface="Calibri"/>
              <a:buChar char="•"/>
            </a:pPr>
            <a:r>
              <a:rPr lang="en-US" sz="1130" b="0" i="0" u="none" strike="noStrike" cap="none">
                <a:solidFill>
                  <a:srgbClr val="1B1B1B"/>
                </a:solidFill>
                <a:latin typeface="Calibri"/>
                <a:ea typeface="Calibri"/>
                <a:cs typeface="Calibri"/>
                <a:sym typeface="Calibri"/>
              </a:rPr>
              <a:t>Forced outages are the only type AEMR penalizes, because they hit the grid with no warning and no planning window.</a:t>
            </a:r>
            <a:endParaRPr sz="113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130"/>
              <a:buFont typeface="Calibri"/>
              <a:buChar char="•"/>
            </a:pPr>
            <a:r>
              <a:rPr lang="en-US" sz="1130" b="0" i="0" u="none" strike="noStrike" cap="none">
                <a:solidFill>
                  <a:srgbClr val="1B1B1B"/>
                </a:solidFill>
                <a:latin typeface="Calibri"/>
                <a:ea typeface="Calibri"/>
                <a:cs typeface="Calibri"/>
                <a:sym typeface="Calibri"/>
              </a:rPr>
              <a:t>A 9.3-point jump in one year means a growing share of the market's disruptions are exactly the unplanned kind AEMR exists to prevent.</a:t>
            </a:r>
            <a:endParaRPr sz="113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1000"/>
              </a:spcBef>
              <a:spcAft>
                <a:spcPts val="0"/>
              </a:spcAft>
              <a:buClr>
                <a:srgbClr val="1B1B1B"/>
              </a:buClr>
              <a:buSzPts val="1130"/>
              <a:buFont typeface="Calibri"/>
              <a:buChar char="•"/>
            </a:pPr>
            <a:r>
              <a:rPr lang="en-US" sz="1130" b="0" i="0" u="none" strike="noStrike" cap="none">
                <a:solidFill>
                  <a:srgbClr val="1B1B1B"/>
                </a:solidFill>
                <a:latin typeface="Calibri"/>
                <a:ea typeface="Calibri"/>
                <a:cs typeface="Calibri"/>
                <a:sym typeface="Calibri"/>
              </a:rPr>
              <a:t>Because only forced outages threaten grid security, participant risk scoring was refined to weight forced-outage frequency and duration only, not planned or opportunistic maintenance.</a:t>
            </a:r>
            <a:endParaRPr sz="1130" b="0" i="0" u="none" strike="noStrike" cap="none">
              <a:solidFill>
                <a:schemeClr val="dk1"/>
              </a:solidFill>
              <a:latin typeface="Calibri"/>
              <a:ea typeface="Calibri"/>
              <a:cs typeface="Calibri"/>
              <a:sym typeface="Calibri"/>
            </a:endParaRPr>
          </a:p>
        </p:txBody>
      </p:sp>
      <p:sp>
        <p:nvSpPr>
          <p:cNvPr id="67" name="Google Shape;67;p6"/>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4</a:t>
            </a:r>
            <a:endParaRPr sz="950" b="0" i="0" u="none" strike="noStrike" cap="none">
              <a:solidFill>
                <a:schemeClr val="dk1"/>
              </a:solidFill>
              <a:latin typeface="Calibri"/>
              <a:ea typeface="Calibri"/>
              <a:cs typeface="Calibri"/>
              <a:sym typeface="Calibri"/>
            </a:endParaRPr>
          </a:p>
        </p:txBody>
      </p:sp>
      <p:sp>
        <p:nvSpPr>
          <p:cNvPr id="68" name="Google Shape;68;p6"/>
          <p:cNvSpPr txBox="1"/>
          <p:nvPr/>
        </p:nvSpPr>
        <p:spPr>
          <a:xfrm>
            <a:off x="2037725" y="5759725"/>
            <a:ext cx="5601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150">
                <a:solidFill>
                  <a:srgbClr val="1B1B1B"/>
                </a:solidFill>
                <a:latin typeface="Calibri"/>
                <a:ea typeface="Calibri"/>
                <a:cs typeface="Calibri"/>
                <a:sym typeface="Calibri"/>
              </a:rPr>
              <a:t>2016</a:t>
            </a:r>
            <a:endParaRPr/>
          </a:p>
        </p:txBody>
      </p:sp>
      <p:sp>
        <p:nvSpPr>
          <p:cNvPr id="69" name="Google Shape;69;p6"/>
          <p:cNvSpPr txBox="1"/>
          <p:nvPr/>
        </p:nvSpPr>
        <p:spPr>
          <a:xfrm>
            <a:off x="4782525" y="5759725"/>
            <a:ext cx="5601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150">
                <a:solidFill>
                  <a:srgbClr val="1B1B1B"/>
                </a:solidFill>
                <a:latin typeface="Calibri"/>
                <a:ea typeface="Calibri"/>
                <a:cs typeface="Calibri"/>
                <a:sym typeface="Calibri"/>
              </a:rPr>
              <a:t>2017</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
        <p:cNvGrpSpPr/>
        <p:nvPr/>
      </p:nvGrpSpPr>
      <p:grpSpPr>
        <a:xfrm>
          <a:off x="0" y="0"/>
          <a:ext cx="0" cy="0"/>
          <a:chOff x="0" y="0"/>
          <a:chExt cx="0" cy="0"/>
        </a:xfrm>
      </p:grpSpPr>
      <p:sp>
        <p:nvSpPr>
          <p:cNvPr id="75" name="Google Shape;75;p7"/>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PART I | ENERGY STABILITY &amp; MARKET OUTAGES</a:t>
            </a:r>
            <a:endParaRPr sz="1150" b="0" i="0" u="none" strike="noStrike" cap="none">
              <a:solidFill>
                <a:schemeClr val="dk1"/>
              </a:solidFill>
              <a:latin typeface="Calibri"/>
              <a:ea typeface="Calibri"/>
              <a:cs typeface="Calibri"/>
              <a:sym typeface="Calibri"/>
            </a:endParaRPr>
          </a:p>
        </p:txBody>
      </p:sp>
      <p:sp>
        <p:nvSpPr>
          <p:cNvPr id="76" name="Google Shape;76;p7"/>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A handful of providers drive most forced-outage volume; a different handful runs the longest outages.</a:t>
            </a:r>
            <a:endParaRPr sz="2500" b="0" i="0" u="none" strike="noStrike" cap="none">
              <a:solidFill>
                <a:schemeClr val="dk1"/>
              </a:solidFill>
              <a:latin typeface="Calibri"/>
              <a:ea typeface="Calibri"/>
              <a:cs typeface="Calibri"/>
              <a:sym typeface="Calibri"/>
            </a:endParaRPr>
          </a:p>
        </p:txBody>
      </p:sp>
      <p:sp>
        <p:nvSpPr>
          <p:cNvPr id="77" name="Google Shape;77;p7"/>
          <p:cNvSpPr txBox="1"/>
          <p:nvPr/>
        </p:nvSpPr>
        <p:spPr>
          <a:xfrm>
            <a:off x="640080" y="1828800"/>
            <a:ext cx="53949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150"/>
              <a:buFont typeface="Calibri"/>
              <a:buNone/>
            </a:pPr>
            <a:r>
              <a:rPr lang="en-US" sz="1150" b="1" i="0" u="none" strike="noStrike" cap="none">
                <a:solidFill>
                  <a:srgbClr val="142850"/>
                </a:solidFill>
                <a:latin typeface="Calibri"/>
                <a:ea typeface="Calibri"/>
                <a:cs typeface="Calibri"/>
                <a:sym typeface="Calibri"/>
              </a:rPr>
              <a:t>Most forced events (2016–2017 combined)</a:t>
            </a:r>
            <a:endParaRPr sz="1150" b="0" i="0" u="none" strike="noStrike" cap="none">
              <a:solidFill>
                <a:schemeClr val="dk1"/>
              </a:solidFill>
              <a:latin typeface="Calibri"/>
              <a:ea typeface="Calibri"/>
              <a:cs typeface="Calibri"/>
              <a:sym typeface="Calibri"/>
            </a:endParaRPr>
          </a:p>
        </p:txBody>
      </p:sp>
      <p:pic>
        <p:nvPicPr>
          <p:cNvPr id="78" name="Google Shape;78;p7"/>
          <p:cNvPicPr preferRelativeResize="0"/>
          <p:nvPr/>
        </p:nvPicPr>
        <p:blipFill rotWithShape="1">
          <a:blip r:embed="rId3">
            <a:alphaModFix/>
          </a:blip>
          <a:srcRect/>
          <a:stretch/>
        </p:blipFill>
        <p:spPr>
          <a:xfrm>
            <a:off x="640080" y="2148840"/>
            <a:ext cx="5394960" cy="3703320"/>
          </a:xfrm>
          <a:prstGeom prst="rect">
            <a:avLst/>
          </a:prstGeom>
          <a:noFill/>
          <a:ln>
            <a:noFill/>
          </a:ln>
        </p:spPr>
      </p:pic>
      <p:cxnSp>
        <p:nvCxnSpPr>
          <p:cNvPr id="79" name="Google Shape;79;p7"/>
          <p:cNvCxnSpPr/>
          <p:nvPr/>
        </p:nvCxnSpPr>
        <p:spPr>
          <a:xfrm>
            <a:off x="6309360" y="1965960"/>
            <a:ext cx="0" cy="3931920"/>
          </a:xfrm>
          <a:prstGeom prst="straightConnector1">
            <a:avLst/>
          </a:prstGeom>
          <a:noFill/>
          <a:ln w="12700" cap="flat" cmpd="sng">
            <a:solidFill>
              <a:srgbClr val="DDE2E8"/>
            </a:solidFill>
            <a:prstDash val="solid"/>
            <a:round/>
            <a:headEnd type="none" w="sm" len="sm"/>
            <a:tailEnd type="none" w="sm" len="sm"/>
          </a:ln>
        </p:spPr>
      </p:cxnSp>
      <p:sp>
        <p:nvSpPr>
          <p:cNvPr id="80" name="Google Shape;80;p7"/>
          <p:cNvSpPr txBox="1"/>
          <p:nvPr/>
        </p:nvSpPr>
        <p:spPr>
          <a:xfrm>
            <a:off x="6537960" y="1828800"/>
            <a:ext cx="50292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150"/>
              <a:buFont typeface="Calibri"/>
              <a:buNone/>
            </a:pPr>
            <a:r>
              <a:rPr lang="en-US" sz="1150" b="1" i="0" u="none" strike="noStrike" cap="none">
                <a:solidFill>
                  <a:srgbClr val="142850"/>
                </a:solidFill>
                <a:latin typeface="Calibri"/>
                <a:ea typeface="Calibri"/>
                <a:cs typeface="Calibri"/>
                <a:sym typeface="Calibri"/>
              </a:rPr>
              <a:t>Longest average forced outage (days, by facility)</a:t>
            </a:r>
            <a:endParaRPr sz="1150" b="0" i="0" u="none" strike="noStrike" cap="none">
              <a:solidFill>
                <a:schemeClr val="dk1"/>
              </a:solidFill>
              <a:latin typeface="Calibri"/>
              <a:ea typeface="Calibri"/>
              <a:cs typeface="Calibri"/>
              <a:sym typeface="Calibri"/>
            </a:endParaRPr>
          </a:p>
        </p:txBody>
      </p:sp>
      <p:pic>
        <p:nvPicPr>
          <p:cNvPr id="81" name="Google Shape;81;p7"/>
          <p:cNvPicPr preferRelativeResize="0"/>
          <p:nvPr/>
        </p:nvPicPr>
        <p:blipFill rotWithShape="1">
          <a:blip r:embed="rId4">
            <a:alphaModFix/>
          </a:blip>
          <a:srcRect/>
          <a:stretch/>
        </p:blipFill>
        <p:spPr>
          <a:xfrm>
            <a:off x="6537960" y="2148840"/>
            <a:ext cx="5029200" cy="3703320"/>
          </a:xfrm>
          <a:prstGeom prst="rect">
            <a:avLst/>
          </a:prstGeom>
          <a:noFill/>
          <a:ln>
            <a:noFill/>
          </a:ln>
        </p:spPr>
      </p:pic>
      <p:sp>
        <p:nvSpPr>
          <p:cNvPr id="82" name="Google Shape;82;p7"/>
          <p:cNvSpPr txBox="1"/>
          <p:nvPr/>
        </p:nvSpPr>
        <p:spPr>
          <a:xfrm>
            <a:off x="640080" y="5989320"/>
            <a:ext cx="10881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100"/>
              <a:buFont typeface="Calibri"/>
              <a:buNone/>
            </a:pPr>
            <a:r>
              <a:rPr lang="en-US" sz="1100" b="0" i="1" u="none" strike="noStrike" cap="none">
                <a:solidFill>
                  <a:srgbClr val="142850"/>
                </a:solidFill>
                <a:latin typeface="Calibri"/>
                <a:ea typeface="Calibri"/>
                <a:cs typeface="Calibri"/>
                <a:sym typeface="Calibri"/>
              </a:rPr>
              <a:t>So what: AURICON and GW need a frequency-focused compliance review; EUCT, WGUTD, and MELK need a duration-focused root-cause review. One risk score can't fix both problems.</a:t>
            </a:r>
            <a:endParaRPr sz="1100" b="0" i="0" u="none" strike="noStrike" cap="none">
              <a:solidFill>
                <a:schemeClr val="dk1"/>
              </a:solidFill>
              <a:latin typeface="Calibri"/>
              <a:ea typeface="Calibri"/>
              <a:cs typeface="Calibri"/>
              <a:sym typeface="Calibri"/>
            </a:endParaRPr>
          </a:p>
        </p:txBody>
      </p:sp>
      <p:sp>
        <p:nvSpPr>
          <p:cNvPr id="83" name="Google Shape;83;p7"/>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5</a:t>
            </a:r>
            <a:endParaRPr sz="950" b="0" i="0" u="none" strike="noStrike" cap="none">
              <a:solidFill>
                <a:schemeClr val="dk1"/>
              </a:solidFill>
              <a:latin typeface="Calibri"/>
              <a:ea typeface="Calibri"/>
              <a:cs typeface="Calibri"/>
              <a:sym typeface="Calibri"/>
            </a:endParaRPr>
          </a:p>
        </p:txBody>
      </p:sp>
      <p:sp>
        <p:nvSpPr>
          <p:cNvPr id="84" name="Google Shape;84;p7"/>
          <p:cNvSpPr txBox="1"/>
          <p:nvPr/>
        </p:nvSpPr>
        <p:spPr>
          <a:xfrm>
            <a:off x="11473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AURICON</a:t>
            </a:r>
            <a:endParaRPr sz="1200"/>
          </a:p>
        </p:txBody>
      </p:sp>
      <p:sp>
        <p:nvSpPr>
          <p:cNvPr id="85" name="Google Shape;85;p7"/>
          <p:cNvSpPr txBox="1"/>
          <p:nvPr/>
        </p:nvSpPr>
        <p:spPr>
          <a:xfrm>
            <a:off x="21327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GW</a:t>
            </a:r>
            <a:endParaRPr sz="1200"/>
          </a:p>
        </p:txBody>
      </p:sp>
      <p:sp>
        <p:nvSpPr>
          <p:cNvPr id="86" name="Google Shape;86;p7"/>
          <p:cNvSpPr txBox="1"/>
          <p:nvPr/>
        </p:nvSpPr>
        <p:spPr>
          <a:xfrm>
            <a:off x="31181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MELK</a:t>
            </a:r>
            <a:endParaRPr sz="1200"/>
          </a:p>
        </p:txBody>
      </p:sp>
      <p:sp>
        <p:nvSpPr>
          <p:cNvPr id="87" name="Google Shape;87;p7"/>
          <p:cNvSpPr txBox="1"/>
          <p:nvPr/>
        </p:nvSpPr>
        <p:spPr>
          <a:xfrm>
            <a:off x="41035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AUXC</a:t>
            </a:r>
            <a:endParaRPr sz="1200"/>
          </a:p>
        </p:txBody>
      </p:sp>
      <p:sp>
        <p:nvSpPr>
          <p:cNvPr id="88" name="Google Shape;88;p7"/>
          <p:cNvSpPr txBox="1"/>
          <p:nvPr/>
        </p:nvSpPr>
        <p:spPr>
          <a:xfrm>
            <a:off x="50889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TRMOS</a:t>
            </a:r>
            <a:endParaRPr sz="1200"/>
          </a:p>
        </p:txBody>
      </p:sp>
      <p:sp>
        <p:nvSpPr>
          <p:cNvPr id="89" name="Google Shape;89;p7"/>
          <p:cNvSpPr txBox="1"/>
          <p:nvPr/>
        </p:nvSpPr>
        <p:spPr>
          <a:xfrm>
            <a:off x="690015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EUCT</a:t>
            </a:r>
            <a:endParaRPr sz="1200"/>
          </a:p>
        </p:txBody>
      </p:sp>
      <p:sp>
        <p:nvSpPr>
          <p:cNvPr id="90" name="Google Shape;90;p7"/>
          <p:cNvSpPr txBox="1"/>
          <p:nvPr/>
        </p:nvSpPr>
        <p:spPr>
          <a:xfrm>
            <a:off x="7864025"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WGUTD</a:t>
            </a:r>
            <a:endParaRPr sz="1200"/>
          </a:p>
        </p:txBody>
      </p:sp>
      <p:sp>
        <p:nvSpPr>
          <p:cNvPr id="91" name="Google Shape;91;p7"/>
          <p:cNvSpPr txBox="1"/>
          <p:nvPr/>
        </p:nvSpPr>
        <p:spPr>
          <a:xfrm>
            <a:off x="8827900"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MELK</a:t>
            </a:r>
            <a:endParaRPr sz="1200"/>
          </a:p>
        </p:txBody>
      </p:sp>
      <p:sp>
        <p:nvSpPr>
          <p:cNvPr id="92" name="Google Shape;92;p7"/>
          <p:cNvSpPr txBox="1"/>
          <p:nvPr/>
        </p:nvSpPr>
        <p:spPr>
          <a:xfrm>
            <a:off x="9791775"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ENRG</a:t>
            </a:r>
            <a:endParaRPr sz="1200"/>
          </a:p>
        </p:txBody>
      </p:sp>
      <p:sp>
        <p:nvSpPr>
          <p:cNvPr id="93" name="Google Shape;93;p7"/>
          <p:cNvSpPr txBox="1"/>
          <p:nvPr/>
        </p:nvSpPr>
        <p:spPr>
          <a:xfrm>
            <a:off x="10726925" y="5522750"/>
            <a:ext cx="689400" cy="1794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950">
                <a:solidFill>
                  <a:srgbClr val="1B1B1B"/>
                </a:solidFill>
                <a:latin typeface="Calibri"/>
                <a:ea typeface="Calibri"/>
                <a:cs typeface="Calibri"/>
                <a:sym typeface="Calibri"/>
              </a:rPr>
              <a:t>COLLGAR</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sp>
        <p:nvSpPr>
          <p:cNvPr id="99" name="Google Shape;99;p8"/>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PART II | ENERGY LOSSES &amp; MARKET RELIABILITY</a:t>
            </a:r>
            <a:endParaRPr sz="1150" b="0" i="0" u="none" strike="noStrike" cap="none">
              <a:solidFill>
                <a:schemeClr val="dk1"/>
              </a:solidFill>
              <a:latin typeface="Calibri"/>
              <a:ea typeface="Calibri"/>
              <a:cs typeface="Calibri"/>
              <a:sym typeface="Calibri"/>
            </a:endParaRPr>
          </a:p>
        </p:txBody>
      </p:sp>
      <p:sp>
        <p:nvSpPr>
          <p:cNvPr id="100" name="Google Shape;100;p8"/>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Three providers, GW, AURICON, and MELK, account for roughly 60% of all energy lost to forced outages.</a:t>
            </a:r>
            <a:endParaRPr sz="2500" b="0" i="0" u="none" strike="noStrike" cap="none">
              <a:solidFill>
                <a:schemeClr val="dk1"/>
              </a:solidFill>
              <a:latin typeface="Calibri"/>
              <a:ea typeface="Calibri"/>
              <a:cs typeface="Calibri"/>
              <a:sym typeface="Calibri"/>
            </a:endParaRPr>
          </a:p>
        </p:txBody>
      </p:sp>
      <p:pic>
        <p:nvPicPr>
          <p:cNvPr id="101" name="Google Shape;101;p8"/>
          <p:cNvPicPr preferRelativeResize="0"/>
          <p:nvPr/>
        </p:nvPicPr>
        <p:blipFill rotWithShape="1">
          <a:blip r:embed="rId3">
            <a:alphaModFix/>
          </a:blip>
          <a:srcRect/>
          <a:stretch/>
        </p:blipFill>
        <p:spPr>
          <a:xfrm>
            <a:off x="731520" y="1920240"/>
            <a:ext cx="5029200" cy="4160520"/>
          </a:xfrm>
          <a:prstGeom prst="rect">
            <a:avLst/>
          </a:prstGeom>
          <a:noFill/>
          <a:ln>
            <a:noFill/>
          </a:ln>
        </p:spPr>
      </p:pic>
      <p:cxnSp>
        <p:nvCxnSpPr>
          <p:cNvPr id="102" name="Google Shape;102;p8"/>
          <p:cNvCxnSpPr/>
          <p:nvPr/>
        </p:nvCxnSpPr>
        <p:spPr>
          <a:xfrm>
            <a:off x="6126480" y="1965960"/>
            <a:ext cx="0" cy="4069080"/>
          </a:xfrm>
          <a:prstGeom prst="straightConnector1">
            <a:avLst/>
          </a:prstGeom>
          <a:noFill/>
          <a:ln w="12700" cap="flat" cmpd="sng">
            <a:solidFill>
              <a:srgbClr val="DDE2E8"/>
            </a:solidFill>
            <a:prstDash val="solid"/>
            <a:round/>
            <a:headEnd type="none" w="sm" len="sm"/>
            <a:tailEnd type="none" w="sm" len="sm"/>
          </a:ln>
        </p:spPr>
      </p:cxnSp>
      <p:sp>
        <p:nvSpPr>
          <p:cNvPr id="103" name="Google Shape;103;p8"/>
          <p:cNvSpPr txBox="1"/>
          <p:nvPr/>
        </p:nvSpPr>
        <p:spPr>
          <a:xfrm>
            <a:off x="6355080" y="1965960"/>
            <a:ext cx="5029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500"/>
              <a:buFont typeface="Cambria"/>
              <a:buNone/>
            </a:pPr>
            <a:r>
              <a:rPr lang="en-US" sz="1500" b="1" i="0" u="none" strike="noStrike" cap="none">
                <a:solidFill>
                  <a:srgbClr val="142850"/>
                </a:solidFill>
                <a:latin typeface="Cambria"/>
                <a:ea typeface="Cambria"/>
                <a:cs typeface="Cambria"/>
                <a:sym typeface="Cambria"/>
              </a:rPr>
              <a:t>Reading the concentration</a:t>
            </a:r>
            <a:endParaRPr sz="1500" b="0" i="0" u="none" strike="noStrike" cap="none">
              <a:solidFill>
                <a:schemeClr val="dk1"/>
              </a:solidFill>
              <a:latin typeface="Calibri"/>
              <a:ea typeface="Calibri"/>
              <a:cs typeface="Calibri"/>
              <a:sym typeface="Calibri"/>
            </a:endParaRPr>
          </a:p>
        </p:txBody>
      </p:sp>
      <p:sp>
        <p:nvSpPr>
          <p:cNvPr id="104" name="Google Shape;104;p8"/>
          <p:cNvSpPr txBox="1"/>
          <p:nvPr/>
        </p:nvSpPr>
        <p:spPr>
          <a:xfrm>
            <a:off x="6355080" y="2377440"/>
            <a:ext cx="5029200" cy="2743200"/>
          </a:xfrm>
          <a:prstGeom prst="rect">
            <a:avLst/>
          </a:prstGeom>
          <a:noFill/>
          <a:ln>
            <a:noFill/>
          </a:ln>
        </p:spPr>
        <p:txBody>
          <a:bodyPr spcFirstLastPara="1" wrap="square" lIns="0" tIns="0" rIns="0" bIns="0" anchor="t" anchorCtr="0">
            <a:noAutofit/>
          </a:bodyPr>
          <a:lstStyle/>
          <a:p>
            <a:pPr marL="342900" marR="0" lvl="0" indent="-342900" algn="l" rtl="0">
              <a:lnSpc>
                <a:spcPct val="115000"/>
              </a:lnSpc>
              <a:spcBef>
                <a:spcPts val="0"/>
              </a:spcBef>
              <a:spcAft>
                <a:spcPts val="0"/>
              </a:spcAft>
              <a:buClr>
                <a:srgbClr val="1B1B1B"/>
              </a:buClr>
              <a:buSzPts val="1200"/>
              <a:buFont typeface="Calibri"/>
              <a:buChar char="•"/>
            </a:pPr>
            <a:r>
              <a:rPr lang="en-US" sz="1200" b="0" i="0" u="none" strike="noStrike" cap="none">
                <a:solidFill>
                  <a:srgbClr val="1B1B1B"/>
                </a:solidFill>
                <a:latin typeface="Calibri"/>
                <a:ea typeface="Calibri"/>
                <a:cs typeface="Calibri"/>
                <a:sym typeface="Calibri"/>
              </a:rPr>
              <a:t>GW: 23.0% of all forced-outage energy lost across 2016–2017.</a:t>
            </a:r>
            <a:endParaRPr sz="12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900"/>
              </a:spcBef>
              <a:spcAft>
                <a:spcPts val="0"/>
              </a:spcAft>
              <a:buClr>
                <a:srgbClr val="1B1B1B"/>
              </a:buClr>
              <a:buSzPts val="1200"/>
              <a:buFont typeface="Calibri"/>
              <a:buChar char="•"/>
            </a:pPr>
            <a:r>
              <a:rPr lang="en-US" sz="1200" b="0" i="0" u="none" strike="noStrike" cap="none">
                <a:solidFill>
                  <a:srgbClr val="1B1B1B"/>
                </a:solidFill>
                <a:latin typeface="Calibri"/>
                <a:ea typeface="Calibri"/>
                <a:cs typeface="Calibri"/>
                <a:sym typeface="Calibri"/>
              </a:rPr>
              <a:t>AURICON: 21.2%.</a:t>
            </a:r>
            <a:endParaRPr sz="12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900"/>
              </a:spcBef>
              <a:spcAft>
                <a:spcPts val="0"/>
              </a:spcAft>
              <a:buClr>
                <a:srgbClr val="1B1B1B"/>
              </a:buClr>
              <a:buSzPts val="1200"/>
              <a:buFont typeface="Calibri"/>
              <a:buChar char="•"/>
            </a:pPr>
            <a:r>
              <a:rPr lang="en-US" sz="1200" b="0" i="0" u="none" strike="noStrike" cap="none">
                <a:solidFill>
                  <a:srgbClr val="1B1B1B"/>
                </a:solidFill>
                <a:latin typeface="Calibri"/>
                <a:ea typeface="Calibri"/>
                <a:cs typeface="Calibri"/>
                <a:sym typeface="Calibri"/>
              </a:rPr>
              <a:t>MELK: 15.8%.</a:t>
            </a:r>
            <a:endParaRPr sz="12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900"/>
              </a:spcBef>
              <a:spcAft>
                <a:spcPts val="0"/>
              </a:spcAft>
              <a:buClr>
                <a:srgbClr val="1B1B1B"/>
              </a:buClr>
              <a:buSzPts val="1200"/>
              <a:buFont typeface="Calibri"/>
              <a:buChar char="•"/>
            </a:pPr>
            <a:r>
              <a:rPr lang="en-US" sz="1200" b="0" i="0" u="none" strike="noStrike" cap="none">
                <a:solidFill>
                  <a:srgbClr val="1B1B1B"/>
                </a:solidFill>
                <a:latin typeface="Calibri"/>
                <a:ea typeface="Calibri"/>
                <a:cs typeface="Calibri"/>
                <a:sym typeface="Calibri"/>
              </a:rPr>
              <a:t>Combined, 3 of roughly 20 active providers hold 60% of the market's total energy loss from unplanned outages.</a:t>
            </a:r>
            <a:endParaRPr sz="1200" b="0" i="0" u="none" strike="noStrike" cap="none">
              <a:solidFill>
                <a:schemeClr val="dk1"/>
              </a:solidFill>
              <a:latin typeface="Calibri"/>
              <a:ea typeface="Calibri"/>
              <a:cs typeface="Calibri"/>
              <a:sym typeface="Calibri"/>
            </a:endParaRPr>
          </a:p>
        </p:txBody>
      </p:sp>
      <p:sp>
        <p:nvSpPr>
          <p:cNvPr id="105" name="Google Shape;105;p8"/>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6</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sp>
        <p:nvSpPr>
          <p:cNvPr id="111" name="Google Shape;111;p9"/>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PART II | ENERGY LOSSES &amp; MARKET RELIABILITY</a:t>
            </a:r>
            <a:endParaRPr sz="1150" b="0" i="0" u="none" strike="noStrike" cap="none">
              <a:solidFill>
                <a:schemeClr val="dk1"/>
              </a:solidFill>
              <a:latin typeface="Calibri"/>
              <a:ea typeface="Calibri"/>
              <a:cs typeface="Calibri"/>
              <a:sym typeface="Calibri"/>
            </a:endParaRPr>
          </a:p>
        </p:txBody>
      </p:sp>
      <p:sp>
        <p:nvSpPr>
          <p:cNvPr id="112" name="Google Shape;112;p9"/>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The losses trace to three specific, fixable failures, not vague underperformance.</a:t>
            </a:r>
            <a:endParaRPr sz="2500" b="0" i="0" u="none" strike="noStrike" cap="none">
              <a:solidFill>
                <a:schemeClr val="dk1"/>
              </a:solidFill>
              <a:latin typeface="Calibri"/>
              <a:ea typeface="Calibri"/>
              <a:cs typeface="Calibri"/>
              <a:sym typeface="Calibri"/>
            </a:endParaRPr>
          </a:p>
        </p:txBody>
      </p:sp>
      <p:sp>
        <p:nvSpPr>
          <p:cNvPr id="113" name="Google Shape;113;p9"/>
          <p:cNvSpPr/>
          <p:nvPr/>
        </p:nvSpPr>
        <p:spPr>
          <a:xfrm>
            <a:off x="640080" y="1965960"/>
            <a:ext cx="3520440" cy="182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txBox="1"/>
          <p:nvPr/>
        </p:nvSpPr>
        <p:spPr>
          <a:xfrm>
            <a:off x="640080" y="1965960"/>
            <a:ext cx="3520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2000"/>
              <a:buFont typeface="Cambria"/>
              <a:buNone/>
            </a:pPr>
            <a:r>
              <a:rPr lang="en-US" sz="2000" b="1" i="0" u="none" strike="noStrike" cap="none">
                <a:solidFill>
                  <a:srgbClr val="142850"/>
                </a:solidFill>
                <a:latin typeface="Cambria"/>
                <a:ea typeface="Cambria"/>
                <a:cs typeface="Cambria"/>
                <a:sym typeface="Cambria"/>
              </a:rPr>
              <a:t>GW</a:t>
            </a:r>
            <a:endParaRPr sz="2000" b="0" i="0" u="none" strike="noStrike" cap="none">
              <a:solidFill>
                <a:schemeClr val="dk1"/>
              </a:solidFill>
              <a:latin typeface="Calibri"/>
              <a:ea typeface="Calibri"/>
              <a:cs typeface="Calibri"/>
              <a:sym typeface="Calibri"/>
            </a:endParaRPr>
          </a:p>
        </p:txBody>
      </p:sp>
      <p:sp>
        <p:nvSpPr>
          <p:cNvPr id="115" name="Google Shape;115;p9"/>
          <p:cNvSpPr txBox="1"/>
          <p:nvPr/>
        </p:nvSpPr>
        <p:spPr>
          <a:xfrm>
            <a:off x="640080" y="2423160"/>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50"/>
              <a:buFont typeface="Calibri"/>
              <a:buNone/>
            </a:pPr>
            <a:r>
              <a:rPr lang="en-US" sz="1050" b="0" i="0" u="none" strike="noStrike" cap="none">
                <a:solidFill>
                  <a:srgbClr val="6B7280"/>
                </a:solidFill>
                <a:latin typeface="Calibri"/>
                <a:ea typeface="Calibri"/>
                <a:cs typeface="Calibri"/>
                <a:sym typeface="Calibri"/>
              </a:rPr>
              <a:t>BW1_GREENWATERS_G2</a:t>
            </a:r>
            <a:endParaRPr sz="1050" b="0" i="0" u="none" strike="noStrike" cap="none">
              <a:solidFill>
                <a:schemeClr val="dk1"/>
              </a:solidFill>
              <a:latin typeface="Calibri"/>
              <a:ea typeface="Calibri"/>
              <a:cs typeface="Calibri"/>
              <a:sym typeface="Calibri"/>
            </a:endParaRPr>
          </a:p>
        </p:txBody>
      </p:sp>
      <p:cxnSp>
        <p:nvCxnSpPr>
          <p:cNvPr id="116" name="Google Shape;116;p9"/>
          <p:cNvCxnSpPr/>
          <p:nvPr/>
        </p:nvCxnSpPr>
        <p:spPr>
          <a:xfrm>
            <a:off x="640080" y="2752344"/>
            <a:ext cx="3246120" cy="0"/>
          </a:xfrm>
          <a:prstGeom prst="straightConnector1">
            <a:avLst/>
          </a:prstGeom>
          <a:noFill/>
          <a:ln w="12700" cap="flat" cmpd="sng">
            <a:solidFill>
              <a:srgbClr val="DDE2E8"/>
            </a:solidFill>
            <a:prstDash val="solid"/>
            <a:round/>
            <a:headEnd type="none" w="sm" len="sm"/>
            <a:tailEnd type="none" w="sm" len="sm"/>
          </a:ln>
        </p:spPr>
      </p:cxnSp>
      <p:sp>
        <p:nvSpPr>
          <p:cNvPr id="117" name="Google Shape;117;p9"/>
          <p:cNvSpPr txBox="1"/>
          <p:nvPr/>
        </p:nvSpPr>
        <p:spPr>
          <a:xfrm>
            <a:off x="640080" y="2880360"/>
            <a:ext cx="35204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2700"/>
              <a:buFont typeface="Cambria"/>
              <a:buNone/>
            </a:pPr>
            <a:r>
              <a:rPr lang="en-US" sz="2700" b="1" i="0" u="none" strike="noStrike" cap="none">
                <a:solidFill>
                  <a:srgbClr val="E8871E"/>
                </a:solidFill>
                <a:latin typeface="Cambria"/>
                <a:ea typeface="Cambria"/>
                <a:cs typeface="Cambria"/>
                <a:sym typeface="Cambria"/>
              </a:rPr>
              <a:t>28,687.5 MW</a:t>
            </a:r>
            <a:endParaRPr sz="2700" b="0" i="0" u="none" strike="noStrike" cap="none">
              <a:solidFill>
                <a:schemeClr val="dk1"/>
              </a:solidFill>
              <a:latin typeface="Calibri"/>
              <a:ea typeface="Calibri"/>
              <a:cs typeface="Calibri"/>
              <a:sym typeface="Calibri"/>
            </a:endParaRPr>
          </a:p>
        </p:txBody>
      </p:sp>
      <p:sp>
        <p:nvSpPr>
          <p:cNvPr id="118" name="Google Shape;118;p9"/>
          <p:cNvSpPr txBox="1"/>
          <p:nvPr/>
        </p:nvSpPr>
        <p:spPr>
          <a:xfrm>
            <a:off x="640080" y="3447288"/>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b="0" i="1" u="none" strike="noStrike" cap="none">
                <a:solidFill>
                  <a:srgbClr val="6B7280"/>
                </a:solidFill>
                <a:latin typeface="Calibri"/>
                <a:ea typeface="Calibri"/>
                <a:cs typeface="Calibri"/>
                <a:sym typeface="Calibri"/>
              </a:rPr>
              <a:t>top forced-outage cause, by energy lost</a:t>
            </a:r>
            <a:endParaRPr sz="950" b="0" i="0" u="none" strike="noStrike" cap="none">
              <a:solidFill>
                <a:schemeClr val="dk1"/>
              </a:solidFill>
              <a:latin typeface="Calibri"/>
              <a:ea typeface="Calibri"/>
              <a:cs typeface="Calibri"/>
              <a:sym typeface="Calibri"/>
            </a:endParaRPr>
          </a:p>
        </p:txBody>
      </p:sp>
      <p:sp>
        <p:nvSpPr>
          <p:cNvPr id="119" name="Google Shape;119;p9"/>
          <p:cNvSpPr txBox="1"/>
          <p:nvPr/>
        </p:nvSpPr>
        <p:spPr>
          <a:xfrm>
            <a:off x="640080" y="3840480"/>
            <a:ext cx="33375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250"/>
              <a:buFont typeface="Calibri"/>
              <a:buNone/>
            </a:pPr>
            <a:r>
              <a:rPr lang="en-US" sz="1250" b="1" i="0" u="none" strike="noStrike" cap="none">
                <a:solidFill>
                  <a:srgbClr val="142850"/>
                </a:solidFill>
                <a:latin typeface="Calibri"/>
                <a:ea typeface="Calibri"/>
                <a:cs typeface="Calibri"/>
                <a:sym typeface="Calibri"/>
              </a:rPr>
              <a:t>Operational issues caused a real-time forced outage</a:t>
            </a:r>
            <a:endParaRPr sz="1250" b="0" i="0" u="none" strike="noStrike" cap="none">
              <a:solidFill>
                <a:schemeClr val="dk1"/>
              </a:solidFill>
              <a:latin typeface="Calibri"/>
              <a:ea typeface="Calibri"/>
              <a:cs typeface="Calibri"/>
              <a:sym typeface="Calibri"/>
            </a:endParaRPr>
          </a:p>
        </p:txBody>
      </p:sp>
      <p:sp>
        <p:nvSpPr>
          <p:cNvPr id="120" name="Google Shape;120;p9"/>
          <p:cNvSpPr txBox="1"/>
          <p:nvPr/>
        </p:nvSpPr>
        <p:spPr>
          <a:xfrm>
            <a:off x="640080" y="4389120"/>
            <a:ext cx="333756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50"/>
              <a:buFont typeface="Calibri"/>
              <a:buNone/>
            </a:pPr>
            <a:r>
              <a:rPr lang="en-US" sz="1050" b="0" i="0" u="none" strike="noStrike" cap="none">
                <a:solidFill>
                  <a:srgbClr val="1B1B1B"/>
                </a:solidFill>
                <a:latin typeface="Calibri"/>
                <a:ea typeface="Calibri"/>
                <a:cs typeface="Calibri"/>
                <a:sym typeface="Calibri"/>
              </a:rPr>
              <a:t>The single largest cause of energy loss in the entire dataset, bigger than AURICON's whole forced-outage total.</a:t>
            </a:r>
            <a:endParaRPr sz="1050" b="0" i="0" u="none" strike="noStrike" cap="none">
              <a:solidFill>
                <a:schemeClr val="dk1"/>
              </a:solidFill>
              <a:latin typeface="Calibri"/>
              <a:ea typeface="Calibri"/>
              <a:cs typeface="Calibri"/>
              <a:sym typeface="Calibri"/>
            </a:endParaRPr>
          </a:p>
        </p:txBody>
      </p:sp>
      <p:sp>
        <p:nvSpPr>
          <p:cNvPr id="121" name="Google Shape;121;p9"/>
          <p:cNvSpPr/>
          <p:nvPr/>
        </p:nvSpPr>
        <p:spPr>
          <a:xfrm>
            <a:off x="4434840" y="1965960"/>
            <a:ext cx="3520440" cy="182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2" name="Google Shape;122;p9"/>
          <p:cNvCxnSpPr/>
          <p:nvPr/>
        </p:nvCxnSpPr>
        <p:spPr>
          <a:xfrm>
            <a:off x="4297680" y="1965960"/>
            <a:ext cx="0" cy="3977640"/>
          </a:xfrm>
          <a:prstGeom prst="straightConnector1">
            <a:avLst/>
          </a:prstGeom>
          <a:noFill/>
          <a:ln w="12700" cap="flat" cmpd="sng">
            <a:solidFill>
              <a:srgbClr val="DDE2E8"/>
            </a:solidFill>
            <a:prstDash val="solid"/>
            <a:round/>
            <a:headEnd type="none" w="sm" len="sm"/>
            <a:tailEnd type="none" w="sm" len="sm"/>
          </a:ln>
        </p:spPr>
      </p:cxnSp>
      <p:sp>
        <p:nvSpPr>
          <p:cNvPr id="123" name="Google Shape;123;p9"/>
          <p:cNvSpPr txBox="1"/>
          <p:nvPr/>
        </p:nvSpPr>
        <p:spPr>
          <a:xfrm>
            <a:off x="4434840" y="1965960"/>
            <a:ext cx="3520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2000"/>
              <a:buFont typeface="Cambria"/>
              <a:buNone/>
            </a:pPr>
            <a:r>
              <a:rPr lang="en-US" sz="2000" b="1" i="0" u="none" strike="noStrike" cap="none">
                <a:solidFill>
                  <a:srgbClr val="142850"/>
                </a:solidFill>
                <a:latin typeface="Cambria"/>
                <a:ea typeface="Cambria"/>
                <a:cs typeface="Cambria"/>
                <a:sym typeface="Cambria"/>
              </a:rPr>
              <a:t>AURICON</a:t>
            </a:r>
            <a:endParaRPr sz="2000" b="0" i="0" u="none" strike="noStrike" cap="none">
              <a:solidFill>
                <a:schemeClr val="dk1"/>
              </a:solidFill>
              <a:latin typeface="Calibri"/>
              <a:ea typeface="Calibri"/>
              <a:cs typeface="Calibri"/>
              <a:sym typeface="Calibri"/>
            </a:endParaRPr>
          </a:p>
        </p:txBody>
      </p:sp>
      <p:sp>
        <p:nvSpPr>
          <p:cNvPr id="124" name="Google Shape;124;p9"/>
          <p:cNvSpPr txBox="1"/>
          <p:nvPr/>
        </p:nvSpPr>
        <p:spPr>
          <a:xfrm>
            <a:off x="4434840" y="2423160"/>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50"/>
              <a:buFont typeface="Calibri"/>
              <a:buNone/>
            </a:pPr>
            <a:r>
              <a:rPr lang="en-US" sz="1050" b="0" i="0" u="none" strike="noStrike" cap="none">
                <a:solidFill>
                  <a:srgbClr val="6B7280"/>
                </a:solidFill>
                <a:latin typeface="Calibri"/>
                <a:ea typeface="Calibri"/>
                <a:cs typeface="Calibri"/>
                <a:sym typeface="Calibri"/>
              </a:rPr>
              <a:t>AURICON_PNJ_U1</a:t>
            </a:r>
            <a:endParaRPr sz="1050" b="0" i="0" u="none" strike="noStrike" cap="none">
              <a:solidFill>
                <a:schemeClr val="dk1"/>
              </a:solidFill>
              <a:latin typeface="Calibri"/>
              <a:ea typeface="Calibri"/>
              <a:cs typeface="Calibri"/>
              <a:sym typeface="Calibri"/>
            </a:endParaRPr>
          </a:p>
        </p:txBody>
      </p:sp>
      <p:cxnSp>
        <p:nvCxnSpPr>
          <p:cNvPr id="125" name="Google Shape;125;p9"/>
          <p:cNvCxnSpPr/>
          <p:nvPr/>
        </p:nvCxnSpPr>
        <p:spPr>
          <a:xfrm>
            <a:off x="4434840" y="2752344"/>
            <a:ext cx="3246120" cy="0"/>
          </a:xfrm>
          <a:prstGeom prst="straightConnector1">
            <a:avLst/>
          </a:prstGeom>
          <a:noFill/>
          <a:ln w="12700" cap="flat" cmpd="sng">
            <a:solidFill>
              <a:srgbClr val="DDE2E8"/>
            </a:solidFill>
            <a:prstDash val="solid"/>
            <a:round/>
            <a:headEnd type="none" w="sm" len="sm"/>
            <a:tailEnd type="none" w="sm" len="sm"/>
          </a:ln>
        </p:spPr>
      </p:cxnSp>
      <p:sp>
        <p:nvSpPr>
          <p:cNvPr id="126" name="Google Shape;126;p9"/>
          <p:cNvSpPr txBox="1"/>
          <p:nvPr/>
        </p:nvSpPr>
        <p:spPr>
          <a:xfrm>
            <a:off x="4434840" y="2880360"/>
            <a:ext cx="35204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2700"/>
              <a:buFont typeface="Cambria"/>
              <a:buNone/>
            </a:pPr>
            <a:r>
              <a:rPr lang="en-US" sz="2700" b="1" i="0" u="none" strike="noStrike" cap="none">
                <a:solidFill>
                  <a:srgbClr val="E8871E"/>
                </a:solidFill>
                <a:latin typeface="Cambria"/>
                <a:ea typeface="Cambria"/>
                <a:cs typeface="Cambria"/>
                <a:sym typeface="Cambria"/>
              </a:rPr>
              <a:t>6,033.9 MW</a:t>
            </a:r>
            <a:endParaRPr sz="2700" b="0" i="0" u="none" strike="noStrike" cap="none">
              <a:solidFill>
                <a:schemeClr val="dk1"/>
              </a:solidFill>
              <a:latin typeface="Calibri"/>
              <a:ea typeface="Calibri"/>
              <a:cs typeface="Calibri"/>
              <a:sym typeface="Calibri"/>
            </a:endParaRPr>
          </a:p>
        </p:txBody>
      </p:sp>
      <p:sp>
        <p:nvSpPr>
          <p:cNvPr id="127" name="Google Shape;127;p9"/>
          <p:cNvSpPr txBox="1"/>
          <p:nvPr/>
        </p:nvSpPr>
        <p:spPr>
          <a:xfrm>
            <a:off x="4434840" y="3447288"/>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b="0" i="1" u="none" strike="noStrike" cap="none">
                <a:solidFill>
                  <a:srgbClr val="6B7280"/>
                </a:solidFill>
                <a:latin typeface="Calibri"/>
                <a:ea typeface="Calibri"/>
                <a:cs typeface="Calibri"/>
                <a:sym typeface="Calibri"/>
              </a:rPr>
              <a:t>top forced-outage cause, by energy lost</a:t>
            </a:r>
            <a:endParaRPr sz="950" b="0" i="0" u="none" strike="noStrike" cap="none">
              <a:solidFill>
                <a:schemeClr val="dk1"/>
              </a:solidFill>
              <a:latin typeface="Calibri"/>
              <a:ea typeface="Calibri"/>
              <a:cs typeface="Calibri"/>
              <a:sym typeface="Calibri"/>
            </a:endParaRPr>
          </a:p>
        </p:txBody>
      </p:sp>
      <p:sp>
        <p:nvSpPr>
          <p:cNvPr id="128" name="Google Shape;128;p9"/>
          <p:cNvSpPr txBox="1"/>
          <p:nvPr/>
        </p:nvSpPr>
        <p:spPr>
          <a:xfrm>
            <a:off x="4434840" y="3840480"/>
            <a:ext cx="33375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250"/>
              <a:buFont typeface="Calibri"/>
              <a:buNone/>
            </a:pPr>
            <a:r>
              <a:rPr lang="en-US" sz="1250" b="1" i="0" u="none" strike="noStrike" cap="none">
                <a:solidFill>
                  <a:srgbClr val="142850"/>
                </a:solidFill>
                <a:latin typeface="Calibri"/>
                <a:ea typeface="Calibri"/>
                <a:cs typeface="Calibri"/>
                <a:sym typeface="Calibri"/>
              </a:rPr>
              <a:t>Full unit trip</a:t>
            </a:r>
            <a:endParaRPr sz="1250" b="0" i="0" u="none" strike="noStrike" cap="none">
              <a:solidFill>
                <a:schemeClr val="dk1"/>
              </a:solidFill>
              <a:latin typeface="Calibri"/>
              <a:ea typeface="Calibri"/>
              <a:cs typeface="Calibri"/>
              <a:sym typeface="Calibri"/>
            </a:endParaRPr>
          </a:p>
        </p:txBody>
      </p:sp>
      <p:sp>
        <p:nvSpPr>
          <p:cNvPr id="129" name="Google Shape;129;p9"/>
          <p:cNvSpPr txBox="1"/>
          <p:nvPr/>
        </p:nvSpPr>
        <p:spPr>
          <a:xfrm>
            <a:off x="4434840" y="4389120"/>
            <a:ext cx="333756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50"/>
              <a:buFont typeface="Calibri"/>
              <a:buNone/>
            </a:pPr>
            <a:r>
              <a:rPr lang="en-US" sz="1050" b="0" i="0" u="none" strike="noStrike" cap="none">
                <a:solidFill>
                  <a:srgbClr val="1B1B1B"/>
                </a:solidFill>
                <a:latin typeface="Calibri"/>
                <a:ea typeface="Calibri"/>
                <a:cs typeface="Calibri"/>
                <a:sym typeface="Calibri"/>
              </a:rPr>
              <a:t>A single point-of-failure event, consistent with an equipment or protection-system issue at one unit.</a:t>
            </a:r>
            <a:endParaRPr sz="1050" b="0" i="0" u="none" strike="noStrike" cap="none">
              <a:solidFill>
                <a:schemeClr val="dk1"/>
              </a:solidFill>
              <a:latin typeface="Calibri"/>
              <a:ea typeface="Calibri"/>
              <a:cs typeface="Calibri"/>
              <a:sym typeface="Calibri"/>
            </a:endParaRPr>
          </a:p>
        </p:txBody>
      </p:sp>
      <p:sp>
        <p:nvSpPr>
          <p:cNvPr id="130" name="Google Shape;130;p9"/>
          <p:cNvSpPr/>
          <p:nvPr/>
        </p:nvSpPr>
        <p:spPr>
          <a:xfrm>
            <a:off x="8229600" y="1965960"/>
            <a:ext cx="3520440" cy="1828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1" name="Google Shape;131;p9"/>
          <p:cNvCxnSpPr/>
          <p:nvPr/>
        </p:nvCxnSpPr>
        <p:spPr>
          <a:xfrm>
            <a:off x="8092440" y="1965960"/>
            <a:ext cx="0" cy="3977640"/>
          </a:xfrm>
          <a:prstGeom prst="straightConnector1">
            <a:avLst/>
          </a:prstGeom>
          <a:noFill/>
          <a:ln w="12700" cap="flat" cmpd="sng">
            <a:solidFill>
              <a:srgbClr val="DDE2E8"/>
            </a:solidFill>
            <a:prstDash val="solid"/>
            <a:round/>
            <a:headEnd type="none" w="sm" len="sm"/>
            <a:tailEnd type="none" w="sm" len="sm"/>
          </a:ln>
        </p:spPr>
      </p:cxnSp>
      <p:sp>
        <p:nvSpPr>
          <p:cNvPr id="132" name="Google Shape;132;p9"/>
          <p:cNvSpPr txBox="1"/>
          <p:nvPr/>
        </p:nvSpPr>
        <p:spPr>
          <a:xfrm>
            <a:off x="8229600" y="1965960"/>
            <a:ext cx="3520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2000"/>
              <a:buFont typeface="Cambria"/>
              <a:buNone/>
            </a:pPr>
            <a:r>
              <a:rPr lang="en-US" sz="2000" b="1" i="0" u="none" strike="noStrike" cap="none">
                <a:solidFill>
                  <a:srgbClr val="142850"/>
                </a:solidFill>
                <a:latin typeface="Cambria"/>
                <a:ea typeface="Cambria"/>
                <a:cs typeface="Cambria"/>
                <a:sym typeface="Cambria"/>
              </a:rPr>
              <a:t>MELK</a:t>
            </a:r>
            <a:endParaRPr sz="2000" b="0" i="0" u="none" strike="noStrike" cap="none">
              <a:solidFill>
                <a:schemeClr val="dk1"/>
              </a:solidFill>
              <a:latin typeface="Calibri"/>
              <a:ea typeface="Calibri"/>
              <a:cs typeface="Calibri"/>
              <a:sym typeface="Calibri"/>
            </a:endParaRPr>
          </a:p>
        </p:txBody>
      </p:sp>
      <p:sp>
        <p:nvSpPr>
          <p:cNvPr id="133" name="Google Shape;133;p9"/>
          <p:cNvSpPr txBox="1"/>
          <p:nvPr/>
        </p:nvSpPr>
        <p:spPr>
          <a:xfrm>
            <a:off x="8229600" y="2423160"/>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050"/>
              <a:buFont typeface="Calibri"/>
              <a:buNone/>
            </a:pPr>
            <a:r>
              <a:rPr lang="en-US" sz="1050" b="0" i="0" u="none" strike="noStrike" cap="none">
                <a:solidFill>
                  <a:srgbClr val="6B7280"/>
                </a:solidFill>
                <a:latin typeface="Calibri"/>
                <a:ea typeface="Calibri"/>
                <a:cs typeface="Calibri"/>
                <a:sym typeface="Calibri"/>
              </a:rPr>
              <a:t>MELK_G7</a:t>
            </a:r>
            <a:endParaRPr sz="1050" b="0" i="0" u="none" strike="noStrike" cap="none">
              <a:solidFill>
                <a:schemeClr val="dk1"/>
              </a:solidFill>
              <a:latin typeface="Calibri"/>
              <a:ea typeface="Calibri"/>
              <a:cs typeface="Calibri"/>
              <a:sym typeface="Calibri"/>
            </a:endParaRPr>
          </a:p>
        </p:txBody>
      </p:sp>
      <p:cxnSp>
        <p:nvCxnSpPr>
          <p:cNvPr id="134" name="Google Shape;134;p9"/>
          <p:cNvCxnSpPr/>
          <p:nvPr/>
        </p:nvCxnSpPr>
        <p:spPr>
          <a:xfrm>
            <a:off x="8229600" y="2752344"/>
            <a:ext cx="3246120" cy="0"/>
          </a:xfrm>
          <a:prstGeom prst="straightConnector1">
            <a:avLst/>
          </a:prstGeom>
          <a:noFill/>
          <a:ln w="12700" cap="flat" cmpd="sng">
            <a:solidFill>
              <a:srgbClr val="DDE2E8"/>
            </a:solidFill>
            <a:prstDash val="solid"/>
            <a:round/>
            <a:headEnd type="none" w="sm" len="sm"/>
            <a:tailEnd type="none" w="sm" len="sm"/>
          </a:ln>
        </p:spPr>
      </p:cxnSp>
      <p:sp>
        <p:nvSpPr>
          <p:cNvPr id="135" name="Google Shape;135;p9"/>
          <p:cNvSpPr txBox="1"/>
          <p:nvPr/>
        </p:nvSpPr>
        <p:spPr>
          <a:xfrm>
            <a:off x="8229600" y="2880360"/>
            <a:ext cx="35204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2700"/>
              <a:buFont typeface="Cambria"/>
              <a:buNone/>
            </a:pPr>
            <a:r>
              <a:rPr lang="en-US" sz="2700" b="1" i="0" u="none" strike="noStrike" cap="none">
                <a:solidFill>
                  <a:srgbClr val="E8871E"/>
                </a:solidFill>
                <a:latin typeface="Cambria"/>
                <a:ea typeface="Cambria"/>
                <a:cs typeface="Cambria"/>
                <a:sym typeface="Cambria"/>
              </a:rPr>
              <a:t>1,100.0 MW</a:t>
            </a:r>
            <a:endParaRPr sz="2700" b="0" i="0" u="none" strike="noStrike" cap="none">
              <a:solidFill>
                <a:schemeClr val="dk1"/>
              </a:solidFill>
              <a:latin typeface="Calibri"/>
              <a:ea typeface="Calibri"/>
              <a:cs typeface="Calibri"/>
              <a:sym typeface="Calibri"/>
            </a:endParaRPr>
          </a:p>
        </p:txBody>
      </p:sp>
      <p:sp>
        <p:nvSpPr>
          <p:cNvPr id="136" name="Google Shape;136;p9"/>
          <p:cNvSpPr txBox="1"/>
          <p:nvPr/>
        </p:nvSpPr>
        <p:spPr>
          <a:xfrm>
            <a:off x="8229600" y="3447288"/>
            <a:ext cx="3520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950"/>
              <a:buFont typeface="Calibri"/>
              <a:buNone/>
            </a:pPr>
            <a:r>
              <a:rPr lang="en-US" sz="950" b="0" i="1" u="none" strike="noStrike" cap="none">
                <a:solidFill>
                  <a:srgbClr val="6B7280"/>
                </a:solidFill>
                <a:latin typeface="Calibri"/>
                <a:ea typeface="Calibri"/>
                <a:cs typeface="Calibri"/>
                <a:sym typeface="Calibri"/>
              </a:rPr>
              <a:t>top forced-outage cause, by energy lost</a:t>
            </a:r>
            <a:endParaRPr sz="950" b="0" i="0" u="none" strike="noStrike" cap="none">
              <a:solidFill>
                <a:schemeClr val="dk1"/>
              </a:solidFill>
              <a:latin typeface="Calibri"/>
              <a:ea typeface="Calibri"/>
              <a:cs typeface="Calibri"/>
              <a:sym typeface="Calibri"/>
            </a:endParaRPr>
          </a:p>
        </p:txBody>
      </p:sp>
      <p:sp>
        <p:nvSpPr>
          <p:cNvPr id="137" name="Google Shape;137;p9"/>
          <p:cNvSpPr txBox="1"/>
          <p:nvPr/>
        </p:nvSpPr>
        <p:spPr>
          <a:xfrm>
            <a:off x="8229600" y="3840480"/>
            <a:ext cx="33375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250"/>
              <a:buFont typeface="Calibri"/>
              <a:buNone/>
            </a:pPr>
            <a:r>
              <a:rPr lang="en-US" sz="1250" b="1" i="0" u="none" strike="noStrike" cap="none">
                <a:solidFill>
                  <a:srgbClr val="142850"/>
                </a:solidFill>
                <a:latin typeface="Calibri"/>
                <a:ea typeface="Calibri"/>
                <a:cs typeface="Calibri"/>
                <a:sym typeface="Calibri"/>
              </a:rPr>
              <a:t>Safety issues</a:t>
            </a:r>
            <a:endParaRPr sz="1250" b="0" i="0" u="none" strike="noStrike" cap="none">
              <a:solidFill>
                <a:schemeClr val="dk1"/>
              </a:solidFill>
              <a:latin typeface="Calibri"/>
              <a:ea typeface="Calibri"/>
              <a:cs typeface="Calibri"/>
              <a:sym typeface="Calibri"/>
            </a:endParaRPr>
          </a:p>
        </p:txBody>
      </p:sp>
      <p:sp>
        <p:nvSpPr>
          <p:cNvPr id="138" name="Google Shape;138;p9"/>
          <p:cNvSpPr txBox="1"/>
          <p:nvPr/>
        </p:nvSpPr>
        <p:spPr>
          <a:xfrm>
            <a:off x="8229600" y="4389120"/>
            <a:ext cx="333756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50"/>
              <a:buFont typeface="Calibri"/>
              <a:buNone/>
            </a:pPr>
            <a:r>
              <a:rPr lang="en-US" sz="1050" b="0" i="0" u="none" strike="noStrike" cap="none">
                <a:solidFill>
                  <a:srgbClr val="1B1B1B"/>
                </a:solidFill>
                <a:latin typeface="Calibri"/>
                <a:ea typeface="Calibri"/>
                <a:cs typeface="Calibri"/>
                <a:sym typeface="Calibri"/>
              </a:rPr>
              <a:t>Smallest of the three, but a safety-flagged cause warrants review independent of its size.</a:t>
            </a:r>
            <a:endParaRPr sz="1050" b="0" i="0" u="none" strike="noStrike" cap="none">
              <a:solidFill>
                <a:schemeClr val="dk1"/>
              </a:solidFill>
              <a:latin typeface="Calibri"/>
              <a:ea typeface="Calibri"/>
              <a:cs typeface="Calibri"/>
              <a:sym typeface="Calibri"/>
            </a:endParaRPr>
          </a:p>
        </p:txBody>
      </p:sp>
      <p:sp>
        <p:nvSpPr>
          <p:cNvPr id="139" name="Google Shape;139;p9"/>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7</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sp>
        <p:nvSpPr>
          <p:cNvPr id="145" name="Google Shape;145;p10"/>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RECOMMENDATIONS</a:t>
            </a:r>
            <a:endParaRPr sz="1150" b="0" i="0" u="none" strike="noStrike" cap="none">
              <a:solidFill>
                <a:schemeClr val="dk1"/>
              </a:solidFill>
              <a:latin typeface="Calibri"/>
              <a:ea typeface="Calibri"/>
              <a:cs typeface="Calibri"/>
              <a:sym typeface="Calibri"/>
            </a:endParaRPr>
          </a:p>
        </p:txBody>
      </p:sp>
      <p:sp>
        <p:nvSpPr>
          <p:cNvPr id="146" name="Google Shape;146;p10"/>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Four actions to cut forced-outage risk</a:t>
            </a:r>
            <a:endParaRPr sz="2500" b="0" i="0" u="none" strike="noStrike" cap="none">
              <a:solidFill>
                <a:schemeClr val="dk1"/>
              </a:solidFill>
              <a:latin typeface="Calibri"/>
              <a:ea typeface="Calibri"/>
              <a:cs typeface="Calibri"/>
              <a:sym typeface="Calibri"/>
            </a:endParaRPr>
          </a:p>
        </p:txBody>
      </p:sp>
      <p:sp>
        <p:nvSpPr>
          <p:cNvPr id="147" name="Google Shape;147;p10"/>
          <p:cNvSpPr txBox="1"/>
          <p:nvPr/>
        </p:nvSpPr>
        <p:spPr>
          <a:xfrm>
            <a:off x="640080" y="141732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300"/>
              <a:buFont typeface="Calibri"/>
              <a:buNone/>
            </a:pPr>
            <a:r>
              <a:rPr lang="en-US" sz="1300" b="0" i="0" u="none" strike="noStrike" cap="none">
                <a:solidFill>
                  <a:srgbClr val="6B7280"/>
                </a:solidFill>
                <a:latin typeface="Calibri"/>
                <a:ea typeface="Calibri"/>
                <a:cs typeface="Calibri"/>
                <a:sym typeface="Calibri"/>
              </a:rPr>
              <a:t>Each action maps directly back to a finding in this analysis.</a:t>
            </a:r>
            <a:endParaRPr sz="1300" b="0" i="0" u="none" strike="noStrike" cap="none">
              <a:solidFill>
                <a:schemeClr val="dk1"/>
              </a:solidFill>
              <a:latin typeface="Calibri"/>
              <a:ea typeface="Calibri"/>
              <a:cs typeface="Calibri"/>
              <a:sym typeface="Calibri"/>
            </a:endParaRPr>
          </a:p>
        </p:txBody>
      </p:sp>
      <p:sp>
        <p:nvSpPr>
          <p:cNvPr id="148" name="Google Shape;148;p10"/>
          <p:cNvSpPr/>
          <p:nvPr/>
        </p:nvSpPr>
        <p:spPr>
          <a:xfrm>
            <a:off x="640080" y="2011680"/>
            <a:ext cx="457200" cy="457200"/>
          </a:xfrm>
          <a:prstGeom prst="ellipse">
            <a:avLst/>
          </a:prstGeom>
          <a:noFill/>
          <a:ln w="15875" cap="flat" cmpd="sng">
            <a:solidFill>
              <a:srgbClr val="1428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0"/>
          <p:cNvSpPr txBox="1"/>
          <p:nvPr/>
        </p:nvSpPr>
        <p:spPr>
          <a:xfrm>
            <a:off x="640080" y="201168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850"/>
              </a:buClr>
              <a:buSzPts val="1600"/>
              <a:buFont typeface="Cambria"/>
              <a:buNone/>
            </a:pPr>
            <a:r>
              <a:rPr lang="en-US" sz="1600" b="1" i="0" u="none" strike="noStrike" cap="none">
                <a:solidFill>
                  <a:srgbClr val="142850"/>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150" name="Google Shape;150;p10"/>
          <p:cNvSpPr txBox="1"/>
          <p:nvPr/>
        </p:nvSpPr>
        <p:spPr>
          <a:xfrm>
            <a:off x="1261872" y="1984248"/>
            <a:ext cx="4727448"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850"/>
              </a:buClr>
              <a:buSzPts val="1400"/>
              <a:buFont typeface="Cambria"/>
              <a:buNone/>
            </a:pPr>
            <a:r>
              <a:rPr lang="en-US" sz="1400" b="1" i="0" u="none" strike="noStrike" cap="none">
                <a:solidFill>
                  <a:srgbClr val="142850"/>
                </a:solidFill>
                <a:latin typeface="Cambria"/>
                <a:ea typeface="Cambria"/>
                <a:cs typeface="Cambria"/>
                <a:sym typeface="Cambria"/>
              </a:rPr>
              <a:t>Audit the 3 concentrated facilities first</a:t>
            </a:r>
            <a:endParaRPr sz="1400" b="0" i="0" u="none" strike="noStrike" cap="none">
              <a:solidFill>
                <a:schemeClr val="dk1"/>
              </a:solidFill>
              <a:latin typeface="Calibri"/>
              <a:ea typeface="Calibri"/>
              <a:cs typeface="Calibri"/>
              <a:sym typeface="Calibri"/>
            </a:endParaRPr>
          </a:p>
        </p:txBody>
      </p:sp>
      <p:sp>
        <p:nvSpPr>
          <p:cNvPr id="151" name="Google Shape;151;p10"/>
          <p:cNvSpPr txBox="1"/>
          <p:nvPr/>
        </p:nvSpPr>
        <p:spPr>
          <a:xfrm>
            <a:off x="640080" y="2606040"/>
            <a:ext cx="5349240" cy="91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80"/>
              <a:buFont typeface="Calibri"/>
              <a:buNone/>
            </a:pPr>
            <a:r>
              <a:rPr lang="en-US" sz="1080" b="0" i="0" u="none" strike="noStrike" cap="none">
                <a:solidFill>
                  <a:srgbClr val="1B1B1B"/>
                </a:solidFill>
                <a:latin typeface="Calibri"/>
                <a:ea typeface="Calibri"/>
                <a:cs typeface="Calibri"/>
                <a:sym typeface="Calibri"/>
              </a:rPr>
              <a:t>Open corrective-action reviews at GW's BW1_GREENWATERS_G2, AURICON_PNJ_U1, and MELK_G7, the sources of ≈60% of forced-outage energy loss.</a:t>
            </a:r>
            <a:endParaRPr sz="1080" b="0" i="0" u="none" strike="noStrike" cap="none">
              <a:solidFill>
                <a:schemeClr val="dk1"/>
              </a:solidFill>
              <a:latin typeface="Calibri"/>
              <a:ea typeface="Calibri"/>
              <a:cs typeface="Calibri"/>
              <a:sym typeface="Calibri"/>
            </a:endParaRPr>
          </a:p>
        </p:txBody>
      </p:sp>
      <p:cxnSp>
        <p:nvCxnSpPr>
          <p:cNvPr id="152" name="Google Shape;152;p10"/>
          <p:cNvCxnSpPr/>
          <p:nvPr/>
        </p:nvCxnSpPr>
        <p:spPr>
          <a:xfrm>
            <a:off x="640080" y="3954780"/>
            <a:ext cx="5349240" cy="0"/>
          </a:xfrm>
          <a:prstGeom prst="straightConnector1">
            <a:avLst/>
          </a:prstGeom>
          <a:noFill/>
          <a:ln w="12700" cap="flat" cmpd="sng">
            <a:solidFill>
              <a:srgbClr val="DDE2E8"/>
            </a:solidFill>
            <a:prstDash val="solid"/>
            <a:round/>
            <a:headEnd type="none" w="sm" len="sm"/>
            <a:tailEnd type="none" w="sm" len="sm"/>
          </a:ln>
        </p:spPr>
      </p:cxnSp>
      <p:sp>
        <p:nvSpPr>
          <p:cNvPr id="153" name="Google Shape;153;p10"/>
          <p:cNvSpPr/>
          <p:nvPr/>
        </p:nvSpPr>
        <p:spPr>
          <a:xfrm>
            <a:off x="6263640" y="2011680"/>
            <a:ext cx="457200" cy="457200"/>
          </a:xfrm>
          <a:prstGeom prst="ellipse">
            <a:avLst/>
          </a:prstGeom>
          <a:noFill/>
          <a:ln w="15875" cap="flat" cmpd="sng">
            <a:solidFill>
              <a:srgbClr val="1428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0"/>
          <p:cNvSpPr txBox="1"/>
          <p:nvPr/>
        </p:nvSpPr>
        <p:spPr>
          <a:xfrm>
            <a:off x="6263640" y="201168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850"/>
              </a:buClr>
              <a:buSzPts val="1600"/>
              <a:buFont typeface="Cambria"/>
              <a:buNone/>
            </a:pPr>
            <a:r>
              <a:rPr lang="en-US" sz="1600" b="1" i="0" u="none" strike="noStrike" cap="none">
                <a:solidFill>
                  <a:srgbClr val="142850"/>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155" name="Google Shape;155;p10"/>
          <p:cNvSpPr txBox="1"/>
          <p:nvPr/>
        </p:nvSpPr>
        <p:spPr>
          <a:xfrm>
            <a:off x="6885432" y="1984248"/>
            <a:ext cx="4727448"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850"/>
              </a:buClr>
              <a:buSzPts val="1400"/>
              <a:buFont typeface="Cambria"/>
              <a:buNone/>
            </a:pPr>
            <a:r>
              <a:rPr lang="en-US" sz="1400" b="1" i="0" u="none" strike="noStrike" cap="none">
                <a:solidFill>
                  <a:srgbClr val="142850"/>
                </a:solidFill>
                <a:latin typeface="Cambria"/>
                <a:ea typeface="Cambria"/>
                <a:cs typeface="Cambria"/>
                <a:sym typeface="Cambria"/>
              </a:rPr>
              <a:t>Split compliance from root-cause review</a:t>
            </a:r>
            <a:endParaRPr sz="1400" b="0" i="0" u="none" strike="noStrike" cap="none">
              <a:solidFill>
                <a:schemeClr val="dk1"/>
              </a:solidFill>
              <a:latin typeface="Calibri"/>
              <a:ea typeface="Calibri"/>
              <a:cs typeface="Calibri"/>
              <a:sym typeface="Calibri"/>
            </a:endParaRPr>
          </a:p>
        </p:txBody>
      </p:sp>
      <p:sp>
        <p:nvSpPr>
          <p:cNvPr id="156" name="Google Shape;156;p10"/>
          <p:cNvSpPr txBox="1"/>
          <p:nvPr/>
        </p:nvSpPr>
        <p:spPr>
          <a:xfrm>
            <a:off x="6263640" y="2606040"/>
            <a:ext cx="5349240" cy="91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80"/>
              <a:buFont typeface="Calibri"/>
              <a:buNone/>
            </a:pPr>
            <a:r>
              <a:rPr lang="en-US" sz="1080" b="0" i="0" u="none" strike="noStrike" cap="none">
                <a:solidFill>
                  <a:srgbClr val="1B1B1B"/>
                </a:solidFill>
                <a:latin typeface="Calibri"/>
                <a:ea typeface="Calibri"/>
                <a:cs typeface="Calibri"/>
                <a:sym typeface="Calibri"/>
              </a:rPr>
              <a:t>Run a frequency-focused compliance track for AURICON and GW, and a separate duration-focused engineering review for EUCT, WGUTD, and MELK.</a:t>
            </a:r>
            <a:endParaRPr sz="1080" b="0" i="0" u="none" strike="noStrike" cap="none">
              <a:solidFill>
                <a:schemeClr val="dk1"/>
              </a:solidFill>
              <a:latin typeface="Calibri"/>
              <a:ea typeface="Calibri"/>
              <a:cs typeface="Calibri"/>
              <a:sym typeface="Calibri"/>
            </a:endParaRPr>
          </a:p>
        </p:txBody>
      </p:sp>
      <p:cxnSp>
        <p:nvCxnSpPr>
          <p:cNvPr id="157" name="Google Shape;157;p10"/>
          <p:cNvCxnSpPr/>
          <p:nvPr/>
        </p:nvCxnSpPr>
        <p:spPr>
          <a:xfrm>
            <a:off x="6263640" y="3954780"/>
            <a:ext cx="5349240" cy="0"/>
          </a:xfrm>
          <a:prstGeom prst="straightConnector1">
            <a:avLst/>
          </a:prstGeom>
          <a:noFill/>
          <a:ln w="12700" cap="flat" cmpd="sng">
            <a:solidFill>
              <a:srgbClr val="DDE2E8"/>
            </a:solidFill>
            <a:prstDash val="solid"/>
            <a:round/>
            <a:headEnd type="none" w="sm" len="sm"/>
            <a:tailEnd type="none" w="sm" len="sm"/>
          </a:ln>
        </p:spPr>
      </p:cxnSp>
      <p:sp>
        <p:nvSpPr>
          <p:cNvPr id="158" name="Google Shape;158;p10"/>
          <p:cNvSpPr/>
          <p:nvPr/>
        </p:nvSpPr>
        <p:spPr>
          <a:xfrm>
            <a:off x="640080" y="4114800"/>
            <a:ext cx="457200" cy="457200"/>
          </a:xfrm>
          <a:prstGeom prst="ellipse">
            <a:avLst/>
          </a:prstGeom>
          <a:noFill/>
          <a:ln w="15875" cap="flat" cmpd="sng">
            <a:solidFill>
              <a:srgbClr val="1428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0"/>
          <p:cNvSpPr txBox="1"/>
          <p:nvPr/>
        </p:nvSpPr>
        <p:spPr>
          <a:xfrm>
            <a:off x="640080" y="4114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850"/>
              </a:buClr>
              <a:buSzPts val="1600"/>
              <a:buFont typeface="Cambria"/>
              <a:buNone/>
            </a:pPr>
            <a:r>
              <a:rPr lang="en-US" sz="1600" b="1" i="0" u="none" strike="noStrike" cap="none">
                <a:solidFill>
                  <a:srgbClr val="142850"/>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160" name="Google Shape;160;p10"/>
          <p:cNvSpPr txBox="1"/>
          <p:nvPr/>
        </p:nvSpPr>
        <p:spPr>
          <a:xfrm>
            <a:off x="1261872" y="4087368"/>
            <a:ext cx="4727448"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850"/>
              </a:buClr>
              <a:buSzPts val="1400"/>
              <a:buFont typeface="Cambria"/>
              <a:buNone/>
            </a:pPr>
            <a:r>
              <a:rPr lang="en-US" sz="1400" b="1" i="0" u="none" strike="noStrike" cap="none">
                <a:solidFill>
                  <a:srgbClr val="142850"/>
                </a:solidFill>
                <a:latin typeface="Cambria"/>
                <a:ea typeface="Cambria"/>
                <a:cs typeface="Cambria"/>
                <a:sym typeface="Cambria"/>
              </a:rPr>
              <a:t>Report forced-share, not just outage totals</a:t>
            </a:r>
            <a:endParaRPr sz="1400" b="0" i="0" u="none" strike="noStrike" cap="none">
              <a:solidFill>
                <a:schemeClr val="dk1"/>
              </a:solidFill>
              <a:latin typeface="Calibri"/>
              <a:ea typeface="Calibri"/>
              <a:cs typeface="Calibri"/>
              <a:sym typeface="Calibri"/>
            </a:endParaRPr>
          </a:p>
        </p:txBody>
      </p:sp>
      <p:sp>
        <p:nvSpPr>
          <p:cNvPr id="161" name="Google Shape;161;p10"/>
          <p:cNvSpPr txBox="1"/>
          <p:nvPr/>
        </p:nvSpPr>
        <p:spPr>
          <a:xfrm>
            <a:off x="640080" y="4709160"/>
            <a:ext cx="5349240" cy="91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80"/>
              <a:buFont typeface="Calibri"/>
              <a:buNone/>
            </a:pPr>
            <a:r>
              <a:rPr lang="en-US" sz="1080" b="0" i="0" u="none" strike="noStrike" cap="none">
                <a:solidFill>
                  <a:srgbClr val="1B1B1B"/>
                </a:solidFill>
                <a:latin typeface="Calibri"/>
                <a:ea typeface="Calibri"/>
                <a:cs typeface="Calibri"/>
                <a:sym typeface="Calibri"/>
              </a:rPr>
              <a:t>Add “% of outages that are forced” as a standing reliability metric; it moved 9.3 points in one year while total volume looked only modestly worse.</a:t>
            </a:r>
            <a:endParaRPr sz="1080" b="0" i="0" u="none" strike="noStrike" cap="none">
              <a:solidFill>
                <a:schemeClr val="dk1"/>
              </a:solidFill>
              <a:latin typeface="Calibri"/>
              <a:ea typeface="Calibri"/>
              <a:cs typeface="Calibri"/>
              <a:sym typeface="Calibri"/>
            </a:endParaRPr>
          </a:p>
        </p:txBody>
      </p:sp>
      <p:sp>
        <p:nvSpPr>
          <p:cNvPr id="162" name="Google Shape;162;p10"/>
          <p:cNvSpPr/>
          <p:nvPr/>
        </p:nvSpPr>
        <p:spPr>
          <a:xfrm>
            <a:off x="6263640" y="4114800"/>
            <a:ext cx="457200" cy="457200"/>
          </a:xfrm>
          <a:prstGeom prst="ellipse">
            <a:avLst/>
          </a:prstGeom>
          <a:noFill/>
          <a:ln w="15875" cap="flat" cmpd="sng">
            <a:solidFill>
              <a:srgbClr val="1428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0"/>
          <p:cNvSpPr txBox="1"/>
          <p:nvPr/>
        </p:nvSpPr>
        <p:spPr>
          <a:xfrm>
            <a:off x="6263640" y="4114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850"/>
              </a:buClr>
              <a:buSzPts val="1600"/>
              <a:buFont typeface="Cambria"/>
              <a:buNone/>
            </a:pPr>
            <a:r>
              <a:rPr lang="en-US" sz="1600" b="1" i="0" u="none" strike="noStrike" cap="none">
                <a:solidFill>
                  <a:srgbClr val="142850"/>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sp>
        <p:nvSpPr>
          <p:cNvPr id="164" name="Google Shape;164;p10"/>
          <p:cNvSpPr txBox="1"/>
          <p:nvPr/>
        </p:nvSpPr>
        <p:spPr>
          <a:xfrm>
            <a:off x="6885432" y="4087368"/>
            <a:ext cx="4727448"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850"/>
              </a:buClr>
              <a:buSzPts val="1400"/>
              <a:buFont typeface="Cambria"/>
              <a:buNone/>
            </a:pPr>
            <a:r>
              <a:rPr lang="en-US" sz="1400" b="1" i="0" u="none" strike="noStrike" cap="none">
                <a:solidFill>
                  <a:srgbClr val="142850"/>
                </a:solidFill>
                <a:latin typeface="Cambria"/>
                <a:ea typeface="Cambria"/>
                <a:cs typeface="Cambria"/>
                <a:sym typeface="Cambria"/>
              </a:rPr>
              <a:t>Refine the participant risk model</a:t>
            </a:r>
            <a:endParaRPr sz="1400" b="0" i="0" u="none" strike="noStrike" cap="none">
              <a:solidFill>
                <a:schemeClr val="dk1"/>
              </a:solidFill>
              <a:latin typeface="Calibri"/>
              <a:ea typeface="Calibri"/>
              <a:cs typeface="Calibri"/>
              <a:sym typeface="Calibri"/>
            </a:endParaRPr>
          </a:p>
        </p:txBody>
      </p:sp>
      <p:sp>
        <p:nvSpPr>
          <p:cNvPr id="165" name="Google Shape;165;p10"/>
          <p:cNvSpPr txBox="1"/>
          <p:nvPr/>
        </p:nvSpPr>
        <p:spPr>
          <a:xfrm>
            <a:off x="6263640" y="4709160"/>
            <a:ext cx="5349240" cy="91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B1B1B"/>
              </a:buClr>
              <a:buSzPts val="1080"/>
              <a:buFont typeface="Calibri"/>
              <a:buNone/>
            </a:pPr>
            <a:r>
              <a:rPr lang="en-US" sz="1080" b="0" i="0" u="none" strike="noStrike" cap="none">
                <a:solidFill>
                  <a:srgbClr val="1B1B1B"/>
                </a:solidFill>
                <a:latin typeface="Calibri"/>
                <a:ea typeface="Calibri"/>
                <a:cs typeface="Calibri"/>
                <a:sym typeface="Calibri"/>
              </a:rPr>
              <a:t>Score risk on forced-outage duration and frequency only, since planned, opportunistic, and consequential outages don't threaten grid security.</a:t>
            </a:r>
            <a:endParaRPr sz="1080" b="0" i="0" u="none" strike="noStrike" cap="none">
              <a:solidFill>
                <a:schemeClr val="dk1"/>
              </a:solidFill>
              <a:latin typeface="Calibri"/>
              <a:ea typeface="Calibri"/>
              <a:cs typeface="Calibri"/>
              <a:sym typeface="Calibri"/>
            </a:endParaRPr>
          </a:p>
        </p:txBody>
      </p:sp>
      <p:sp>
        <p:nvSpPr>
          <p:cNvPr id="166" name="Google Shape;166;p10"/>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8</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11"/>
          <p:cNvSpPr txBox="1"/>
          <p:nvPr/>
        </p:nvSpPr>
        <p:spPr>
          <a:xfrm>
            <a:off x="640080" y="365760"/>
            <a:ext cx="91440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871E"/>
              </a:buClr>
              <a:buSzPts val="1150"/>
              <a:buFont typeface="Calibri"/>
              <a:buNone/>
            </a:pPr>
            <a:r>
              <a:rPr lang="en-US" sz="1150" b="1" i="0" u="none" strike="noStrike" cap="none">
                <a:solidFill>
                  <a:srgbClr val="E8871E"/>
                </a:solidFill>
                <a:latin typeface="Calibri"/>
                <a:ea typeface="Calibri"/>
                <a:cs typeface="Calibri"/>
                <a:sym typeface="Calibri"/>
              </a:rPr>
              <a:t>APPENDIX</a:t>
            </a:r>
            <a:endParaRPr sz="1150" b="0" i="0" u="none" strike="noStrike" cap="none">
              <a:solidFill>
                <a:schemeClr val="dk1"/>
              </a:solidFill>
              <a:latin typeface="Calibri"/>
              <a:ea typeface="Calibri"/>
              <a:cs typeface="Calibri"/>
              <a:sym typeface="Calibri"/>
            </a:endParaRPr>
          </a:p>
        </p:txBody>
      </p:sp>
      <p:sp>
        <p:nvSpPr>
          <p:cNvPr id="173" name="Google Shape;173;p11"/>
          <p:cNvSpPr txBox="1"/>
          <p:nvPr/>
        </p:nvSpPr>
        <p:spPr>
          <a:xfrm>
            <a:off x="640080" y="658368"/>
            <a:ext cx="10927080" cy="1051560"/>
          </a:xfrm>
          <a:prstGeom prst="rect">
            <a:avLst/>
          </a:prstGeom>
          <a:noFill/>
          <a:ln>
            <a:noFill/>
          </a:ln>
        </p:spPr>
        <p:txBody>
          <a:bodyPr spcFirstLastPara="1" wrap="square" lIns="0" tIns="0" rIns="0" bIns="0" anchor="ctr" anchorCtr="0">
            <a:noAutofit/>
          </a:bodyPr>
          <a:lstStyle/>
          <a:p>
            <a:pPr marL="0" marR="0" lvl="0" indent="0" algn="l" rtl="0">
              <a:lnSpc>
                <a:spcPct val="106000"/>
              </a:lnSpc>
              <a:spcBef>
                <a:spcPts val="0"/>
              </a:spcBef>
              <a:spcAft>
                <a:spcPts val="0"/>
              </a:spcAft>
              <a:buClr>
                <a:srgbClr val="142850"/>
              </a:buClr>
              <a:buSzPts val="2500"/>
              <a:buFont typeface="Cambria"/>
              <a:buNone/>
            </a:pPr>
            <a:r>
              <a:rPr lang="en-US" sz="2500" b="1" i="0" u="none" strike="noStrike" cap="none">
                <a:solidFill>
                  <a:srgbClr val="142850"/>
                </a:solidFill>
                <a:latin typeface="Cambria"/>
                <a:ea typeface="Cambria"/>
                <a:cs typeface="Cambria"/>
                <a:sym typeface="Cambria"/>
              </a:rPr>
              <a:t>Data source &amp; methodology</a:t>
            </a:r>
            <a:endParaRPr sz="2500" b="0" i="0" u="none" strike="noStrike" cap="none">
              <a:solidFill>
                <a:schemeClr val="dk1"/>
              </a:solidFill>
              <a:latin typeface="Calibri"/>
              <a:ea typeface="Calibri"/>
              <a:cs typeface="Calibri"/>
              <a:sym typeface="Calibri"/>
            </a:endParaRPr>
          </a:p>
        </p:txBody>
      </p:sp>
      <p:sp>
        <p:nvSpPr>
          <p:cNvPr id="174" name="Google Shape;174;p11"/>
          <p:cNvSpPr txBox="1"/>
          <p:nvPr/>
        </p:nvSpPr>
        <p:spPr>
          <a:xfrm>
            <a:off x="640080" y="1874520"/>
            <a:ext cx="5029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450"/>
              <a:buFont typeface="Cambria"/>
              <a:buNone/>
            </a:pPr>
            <a:r>
              <a:rPr lang="en-US" sz="1450" b="1" i="0" u="none" strike="noStrike" cap="none">
                <a:solidFill>
                  <a:srgbClr val="142850"/>
                </a:solidFill>
                <a:latin typeface="Cambria"/>
                <a:ea typeface="Cambria"/>
                <a:cs typeface="Cambria"/>
                <a:sym typeface="Cambria"/>
              </a:rPr>
              <a:t>Data source</a:t>
            </a:r>
            <a:endParaRPr sz="1450" b="0" i="0" u="none" strike="noStrike" cap="none">
              <a:solidFill>
                <a:schemeClr val="dk1"/>
              </a:solidFill>
              <a:latin typeface="Calibri"/>
              <a:ea typeface="Calibri"/>
              <a:cs typeface="Calibri"/>
              <a:sym typeface="Calibri"/>
            </a:endParaRPr>
          </a:p>
        </p:txBody>
      </p:sp>
      <p:sp>
        <p:nvSpPr>
          <p:cNvPr id="175" name="Google Shape;175;p11"/>
          <p:cNvSpPr txBox="1"/>
          <p:nvPr/>
        </p:nvSpPr>
        <p:spPr>
          <a:xfrm>
            <a:off x="640080" y="2240280"/>
            <a:ext cx="5029200" cy="3566160"/>
          </a:xfrm>
          <a:prstGeom prst="rect">
            <a:avLst/>
          </a:prstGeom>
          <a:noFill/>
          <a:ln>
            <a:noFill/>
          </a:ln>
        </p:spPr>
        <p:txBody>
          <a:bodyPr spcFirstLastPara="1" wrap="square" lIns="0" tIns="0" rIns="0" bIns="0" anchor="t" anchorCtr="0">
            <a:noAutofit/>
          </a:bodyPr>
          <a:lstStyle/>
          <a:p>
            <a:pPr marL="342900" marR="0" lvl="0" indent="-342900" algn="l" rtl="0">
              <a:lnSpc>
                <a:spcPct val="115000"/>
              </a:lnSpc>
              <a:spcBef>
                <a:spcPts val="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Table: AEMR_Outage_Table</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Period covered: calendar years 2016–2017</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Filter applied throughout: Status = Approved (cancelled/unapproved outages excluded)</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Key fields used: participant_code, facility_code, outage_reason, description_of_outage, start_time, end_time, energy_lost_mw</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Duration calculated via JULIANDAY(end_time) − JULIANDAY(start_time), rounded to 2 decimal places</a:t>
            </a:r>
            <a:endParaRPr sz="1100" b="0" i="0" u="none" strike="noStrike" cap="none">
              <a:solidFill>
                <a:schemeClr val="dk1"/>
              </a:solidFill>
              <a:latin typeface="Calibri"/>
              <a:ea typeface="Calibri"/>
              <a:cs typeface="Calibri"/>
              <a:sym typeface="Calibri"/>
            </a:endParaRPr>
          </a:p>
        </p:txBody>
      </p:sp>
      <p:cxnSp>
        <p:nvCxnSpPr>
          <p:cNvPr id="176" name="Google Shape;176;p11"/>
          <p:cNvCxnSpPr/>
          <p:nvPr/>
        </p:nvCxnSpPr>
        <p:spPr>
          <a:xfrm>
            <a:off x="6080760" y="1920240"/>
            <a:ext cx="0" cy="4114800"/>
          </a:xfrm>
          <a:prstGeom prst="straightConnector1">
            <a:avLst/>
          </a:prstGeom>
          <a:noFill/>
          <a:ln w="12700" cap="flat" cmpd="sng">
            <a:solidFill>
              <a:srgbClr val="DDE2E8"/>
            </a:solidFill>
            <a:prstDash val="solid"/>
            <a:round/>
            <a:headEnd type="none" w="sm" len="sm"/>
            <a:tailEnd type="none" w="sm" len="sm"/>
          </a:ln>
        </p:spPr>
      </p:cxnSp>
      <p:sp>
        <p:nvSpPr>
          <p:cNvPr id="177" name="Google Shape;177;p11"/>
          <p:cNvSpPr txBox="1"/>
          <p:nvPr/>
        </p:nvSpPr>
        <p:spPr>
          <a:xfrm>
            <a:off x="6309360" y="1874520"/>
            <a:ext cx="5029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2850"/>
              </a:buClr>
              <a:buSzPts val="1450"/>
              <a:buFont typeface="Cambria"/>
              <a:buNone/>
            </a:pPr>
            <a:r>
              <a:rPr lang="en-US" sz="1450" b="1" i="0" u="none" strike="noStrike" cap="none">
                <a:solidFill>
                  <a:srgbClr val="142850"/>
                </a:solidFill>
                <a:latin typeface="Cambria"/>
                <a:ea typeface="Cambria"/>
                <a:cs typeface="Cambria"/>
                <a:sym typeface="Cambria"/>
              </a:rPr>
              <a:t>Outage type definitions</a:t>
            </a:r>
            <a:endParaRPr sz="1450" b="0" i="0" u="none" strike="noStrike" cap="none">
              <a:solidFill>
                <a:schemeClr val="dk1"/>
              </a:solidFill>
              <a:latin typeface="Calibri"/>
              <a:ea typeface="Calibri"/>
              <a:cs typeface="Calibri"/>
              <a:sym typeface="Calibri"/>
            </a:endParaRPr>
          </a:p>
        </p:txBody>
      </p:sp>
      <p:sp>
        <p:nvSpPr>
          <p:cNvPr id="178" name="Google Shape;178;p11"/>
          <p:cNvSpPr txBox="1"/>
          <p:nvPr/>
        </p:nvSpPr>
        <p:spPr>
          <a:xfrm>
            <a:off x="6309360" y="2240280"/>
            <a:ext cx="5029200" cy="2011680"/>
          </a:xfrm>
          <a:prstGeom prst="rect">
            <a:avLst/>
          </a:prstGeom>
          <a:noFill/>
          <a:ln>
            <a:noFill/>
          </a:ln>
        </p:spPr>
        <p:txBody>
          <a:bodyPr spcFirstLastPara="1" wrap="square" lIns="0" tIns="0" rIns="0" bIns="0" anchor="t" anchorCtr="0">
            <a:noAutofit/>
          </a:bodyPr>
          <a:lstStyle/>
          <a:p>
            <a:pPr marL="342900" marR="0" lvl="0" indent="-342900" algn="l" rtl="0">
              <a:lnSpc>
                <a:spcPct val="115000"/>
              </a:lnSpc>
              <a:spcBef>
                <a:spcPts val="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Forced: unplanned, catches AEMR by surprise. The only type AEMR penalizes.</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Consequential: caused by an event unrelated to the provider (e.g. a downed transmission line).</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Opportunistic: proactive maintenance completed within a 48-hour window.</a:t>
            </a:r>
            <a:endParaRPr sz="110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800"/>
              </a:spcBef>
              <a:spcAft>
                <a:spcPts val="0"/>
              </a:spcAft>
              <a:buClr>
                <a:srgbClr val="1B1B1B"/>
              </a:buClr>
              <a:buSzPts val="1100"/>
              <a:buFont typeface="Calibri"/>
              <a:buChar char="•"/>
            </a:pPr>
            <a:r>
              <a:rPr lang="en-US" sz="1100" b="0" i="0" u="none" strike="noStrike" cap="none">
                <a:solidFill>
                  <a:srgbClr val="1B1B1B"/>
                </a:solidFill>
                <a:latin typeface="Calibri"/>
                <a:ea typeface="Calibri"/>
                <a:cs typeface="Calibri"/>
                <a:sym typeface="Calibri"/>
              </a:rPr>
              <a:t>Scheduled (Planned): reported in advance, expected to run longer than 48 hours.</a:t>
            </a:r>
            <a:endParaRPr sz="1100" b="0" i="0" u="none" strike="noStrike" cap="none">
              <a:solidFill>
                <a:schemeClr val="dk1"/>
              </a:solidFill>
              <a:latin typeface="Calibri"/>
              <a:ea typeface="Calibri"/>
              <a:cs typeface="Calibri"/>
              <a:sym typeface="Calibri"/>
            </a:endParaRPr>
          </a:p>
        </p:txBody>
      </p:sp>
      <p:sp>
        <p:nvSpPr>
          <p:cNvPr id="179" name="Google Shape;179;p11"/>
          <p:cNvSpPr txBox="1"/>
          <p:nvPr/>
        </p:nvSpPr>
        <p:spPr>
          <a:xfrm>
            <a:off x="11567160" y="6510528"/>
            <a:ext cx="32004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B7280"/>
              </a:buClr>
              <a:buSzPts val="950"/>
              <a:buFont typeface="Calibri"/>
              <a:buNone/>
            </a:pPr>
            <a:r>
              <a:rPr lang="en-US" sz="950" b="0" i="0" u="none" strike="noStrike" cap="none">
                <a:solidFill>
                  <a:srgbClr val="6B7280"/>
                </a:solidFill>
                <a:latin typeface="Calibri"/>
                <a:ea typeface="Calibri"/>
                <a:cs typeface="Calibri"/>
                <a:sym typeface="Calibri"/>
              </a:rPr>
              <a:t>9</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821</TotalTime>
  <Words>2411</Words>
  <Application>Microsoft Macintosh PowerPoint</Application>
  <PresentationFormat>Widescreen</PresentationFormat>
  <Paragraphs>186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Michelle Major</cp:lastModifiedBy>
  <cp:revision>3</cp:revision>
  <dcterms:modified xsi:type="dcterms:W3CDTF">2026-10-18T12:53:32Z</dcterms:modified>
</cp:coreProperties>
</file>